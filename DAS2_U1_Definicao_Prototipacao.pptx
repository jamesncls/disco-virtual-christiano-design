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R1er+xH1PkSY9rk/is/weS+gC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evite fazer todo o design/planejamento detalhado antes de começar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 mundo muda: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Até você terminar o design "perfeito", as necessidades do cliente ou o mercado podem ter mudado.</a:t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ISO 25010 (Modelo de Qualidade de Produto):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 que é: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Norma internacional que define os atributos de qualidade para software.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Estrutura: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Divide a qualidade em 8 características (como Segurança, Usabilidade e Manutenibilidade).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🛡️ Segurança: OWASP Top 10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 que é: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Lista dos 10 riscos de segurança mais críticos para aplicações web, atualizada globalmente por especialistas.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Por que importa: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Serve como o guia padrão para desenvolvedores e auditores garantirem que o software não possui falhas óbvias, como Injeção de SQL ou Controle de Acesso Quebrado.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Foco: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Redução de vulnerabilidades e proteção de dados.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⏱️ Performance: Percentis (P95 e P99)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 que são: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Métricas que mostram o tempo de resposta para a "cauda" dos usuários.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P95: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95% dos usuários têm uma experiência igual ou melhor que esse valor.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P99: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 pior cenário (1% dos usuários).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Por que importa: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Médias escondem gargalos. O P99 revela se o sistema está "travando" para uma parcela dos usuários, o que é crucial para manter a qualidade em escala.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🛠️ Operações: MTTR (Mean Time To Recovery) /Repair/Response/Resolve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 que é: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Tempo Médio de Recuperação. Mede quanto tempo o sistema leva para voltar ao normal após uma falha ser detectada.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Por que importa: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É a principal métrica de resiliência. Em sistemas modernos, falhas são inevitáveis; o diferencial competitivo é a velocidade de resposta e restauração do serviço.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👤 UX: SUS Score (System Usability Scale)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 que é: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Um questionário padrão de 10 perguntas que gera uma pontuação de 0 a 100 sobre a percepção de usabilidade do usuário.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 meta (&gt; 80):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Um score acima de 80 é considerado "Excelente" (Classe A).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Por que importa: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Valida se o produto é fácil de usar e se o usuário se sente confiante, indo além da simples funcionalidade técnica.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Exemplo Prático com Máquinas Virtuais (VMs):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Scale Up/Down: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Você aumenta o hardware (CPU/RAM) daquela instância específica. É simples, mas limitado pela capacidade do servidor físico e gera um breve downtime durante o upgrade.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Scale Out/In: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Você adiciona mais instâncias para dividir o trabalho. É a base da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Elasticidade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o sistema "respira" conforme a demanda, aumentando a resiliência (se uma VM falha, as outras assumem).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WAF (Web Application Firewall):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 que é: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Um filtro de segurança de Camada 7 que protege aplicações web contra ataques como SQL Injection, Cross-Site Scripting (XSS) e outras vulnerabilidades do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OWASP Top 10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Como funciona: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Analisa o tráfego HTTP/S e bloqueia requisições maliciosas antes que elas atinjam o servidor.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Impacto: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Reduz o risco de invasões e ajuda a manter a disponibilidade e performance (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P99/MTTR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) ao filtrar tráfego de ataques e bots.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 termo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"Throwaway Code"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(Código Descartável) refere-se a um código escrito com o propósito específico de ser usado uma única vez ou por um curtíssimo período de tempo, sendo excluído logo em seguida.</a:t>
            </a:r>
            <a:endParaRPr/>
          </a:p>
        </p:txBody>
      </p:sp>
      <p:sp>
        <p:nvSpPr>
          <p:cNvPr id="230" name="Google Shape;2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Fitness Functions (Funções de Aptidão):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 que é: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Testes automatizados que avaliam a "integridade arquitetural" do sistema.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457200"/>
            <a:ext cx="2377440" cy="384048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4572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UNIDADE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98755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Definição e Prototipação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Papel do Arquiteto · PoC · Tracer Bullet · Trade-offs · Fitness Functions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267712"/>
            <a:ext cx="3200400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2423160"/>
            <a:ext cx="4206240" cy="69494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57200" y="2423160"/>
            <a:ext cx="4206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🎯 Papel do Arquiteto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846320" y="2423160"/>
            <a:ext cx="4206240" cy="69494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846320" y="2423160"/>
            <a:ext cx="4206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📐 Atributos de Qualidade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3227832"/>
            <a:ext cx="4206240" cy="69494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57200" y="3227832"/>
            <a:ext cx="4206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🧪 PoC &amp; Tracer Bullet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46320" y="3227832"/>
            <a:ext cx="4206240" cy="69494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846320" y="3227832"/>
            <a:ext cx="4206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⚖️ Trade-offs Arquiteturais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57200" y="4032504"/>
            <a:ext cx="4206240" cy="69494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457200" y="4032504"/>
            <a:ext cx="4206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🔬 Fitness Functions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846320" y="4032504"/>
            <a:ext cx="4206240" cy="69494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4846320" y="4032504"/>
            <a:ext cx="4206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🏭 Cases Reais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II  •  Engenharia de Software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 — Unidade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que faz um arquiteto? Como decisões técnicas afetam o futuro de um produto?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65760" y="987552"/>
            <a:ext cx="4251960" cy="117043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65760" y="987552"/>
            <a:ext cx="502920" cy="1170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65760" y="987552"/>
            <a:ext cx="502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60120" y="1078992"/>
            <a:ext cx="3547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Papel do Arquiteto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60120" y="1426464"/>
            <a:ext cx="35478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Quem é, o que decide, quando intervém e por que existe.</a:t>
            </a:r>
            <a:endParaRPr b="0" i="0" sz="102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00600" y="987552"/>
            <a:ext cx="4251960" cy="117043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00600" y="987552"/>
            <a:ext cx="502920" cy="11704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00600" y="987552"/>
            <a:ext cx="502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94960" y="1078992"/>
            <a:ext cx="3547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Atributos de Qualidade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394960" y="1426464"/>
            <a:ext cx="35478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ISO 25010: como transformar RNFs vagos em requisitos testáveis.</a:t>
            </a:r>
            <a:endParaRPr b="0" i="0" sz="102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65760" y="2313432"/>
            <a:ext cx="4251960" cy="117043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65760" y="2313432"/>
            <a:ext cx="502920" cy="1170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65760" y="2313432"/>
            <a:ext cx="502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60120" y="2404872"/>
            <a:ext cx="3547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Prova de Conceito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60120" y="2752344"/>
            <a:ext cx="35478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que é uma PoC, quando usar, estrutura e critérios de saída.</a:t>
            </a:r>
            <a:endParaRPr b="0" i="0" sz="102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00600" y="2313432"/>
            <a:ext cx="4251960" cy="117043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800600" y="2313432"/>
            <a:ext cx="502920" cy="117043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800600" y="2313432"/>
            <a:ext cx="502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394960" y="2404872"/>
            <a:ext cx="3547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Tracer Bullet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394960" y="2752344"/>
            <a:ext cx="35478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Técnica de desenvolvimento incremental end-to-end com risco controlado.</a:t>
            </a:r>
            <a:endParaRPr b="0" i="0" sz="102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65760" y="3639312"/>
            <a:ext cx="4251960" cy="117043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365760" y="3639312"/>
            <a:ext cx="502920" cy="117043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65760" y="3639312"/>
            <a:ext cx="502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960120" y="3730752"/>
            <a:ext cx="3547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PoC vs Tracer vs MVP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960120" y="4078224"/>
            <a:ext cx="35478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Diferenças práticas, quando escolher cada abordagem.</a:t>
            </a:r>
            <a:endParaRPr b="0" i="0" sz="102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800600" y="3639312"/>
            <a:ext cx="4251960" cy="117043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800600" y="3639312"/>
            <a:ext cx="502920" cy="1170432"/>
          </a:xfrm>
          <a:prstGeom prst="rect">
            <a:avLst/>
          </a:prstGeom>
          <a:solidFill>
            <a:srgbClr val="EAB30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800600" y="3639312"/>
            <a:ext cx="502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394960" y="3730752"/>
            <a:ext cx="3547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Trade-offs &amp; Fitness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394960" y="4078224"/>
            <a:ext cx="35478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arquitetos decidem, documentam e validam decisões.</a:t>
            </a:r>
            <a:endParaRPr b="0" i="0" sz="102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O Papel do Arquiteto de Software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Não é o desenvolvedor mais sênior — é quem reduz incerteza técnica e preserva opções de mudança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65760" y="941832"/>
            <a:ext cx="8412480" cy="45720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65760" y="941832"/>
            <a:ext cx="54864" cy="4572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02920" y="941832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💡  Arquitetura é sobre decisões que são difíceis de mudar — e o arquiteto é quem garante que as certas sejam tomadas cedo.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65760" y="1481328"/>
            <a:ext cx="2029968" cy="331012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65760" y="1481328"/>
            <a:ext cx="2029968" cy="38404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11480" y="148132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🗺️  Define Contexto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200" y="1938528"/>
            <a:ext cx="1847088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Mapeia os stakeholders,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restrições do negócio e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riscos técnicos do sistema.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Pergunta: quais são 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decisões irrevogáveis?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542032" y="1481328"/>
            <a:ext cx="2029968" cy="331012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2542032" y="1481328"/>
            <a:ext cx="2029968" cy="38404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587752" y="148132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⚖️  Gerencia Trade-offs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633472" y="1938528"/>
            <a:ext cx="1847088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Não existe decisão perfeita.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Cada escolha tem custo.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Arquiteto torna o custo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explícito e consciente.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Documenta com ADRs.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718304" y="1481328"/>
            <a:ext cx="2029968" cy="331012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718304" y="1481328"/>
            <a:ext cx="2029968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764024" y="148132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🔭  Reduz Incerteza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809744" y="1938528"/>
            <a:ext cx="1847100" cy="27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Identificar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riscos cedo.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Valida hipóteses com PoC.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Evita 'big design upfront'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sem cair em 'arquitetura  de improviso'.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894576" y="1481328"/>
            <a:ext cx="2029968" cy="331012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894576" y="1481328"/>
            <a:ext cx="2029968" cy="38404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940296" y="148132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🤝  Conecta Times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986016" y="1938528"/>
            <a:ext cx="1847088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Faz a ponte dev / negócio.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Garante alinhamento entre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squads.</a:t>
            </a:r>
            <a:endParaRPr b="0" i="0" sz="1000" u="none" cap="none" strike="noStrik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Impede que cada time tome decisões conflitantes.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65760" y="4828032"/>
            <a:ext cx="8412480" cy="24688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502920" y="4828032"/>
            <a:ext cx="8229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❌  Anti-pattern: arquiteto que só revisa código ou só assina documentos. Arquitetura é prática, não cargo.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📐  Atributos de Qualidade — ISO 25010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Requisitos Não-Funcionais com critérios objetivos e mensuráveis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365760" y="941832"/>
            <a:ext cx="8412480" cy="45720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65760" y="941832"/>
            <a:ext cx="54864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02920" y="941832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💡  Um RNF vago é uma promessa impossível de entregar. 'O sistema deve ser rápido' não é testável. 'P99 &lt; 300ms sob 1000 req/s' é.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65760" y="1481328"/>
            <a:ext cx="2670048" cy="141732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65760" y="1481328"/>
            <a:ext cx="2670048" cy="3474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20624" y="148132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⚡  Desempenho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57200" y="1883664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Exemplo de critério objetivo: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2139696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P99 &lt; 300ms • 5000 req/s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200400" y="1481328"/>
            <a:ext cx="2670048" cy="141732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200400" y="1481328"/>
            <a:ext cx="2670048" cy="34747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255264" y="148132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🛡️  Confiabilidade.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291840" y="1883664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Exemplo de critério objetivo: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291840" y="2139696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99.9% uptime = 8.7h/ano down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035040" y="1481328"/>
            <a:ext cx="2670048" cy="141732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6035040" y="1481328"/>
            <a:ext cx="2670048" cy="347472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089904" y="148132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🔐  Segurança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126480" y="1883664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Exemplo de critério objetivo: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126480" y="2139696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OWASP Top10 • LGPD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65760" y="3054096"/>
            <a:ext cx="2670048" cy="141732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65760" y="3054096"/>
            <a:ext cx="2670048" cy="34747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20624" y="305409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📈  Escalabilidade.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57200" y="345643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Exemplo de critério objetivo: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57200" y="3712464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Scale out auto em &lt; 2 min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200400" y="3054096"/>
            <a:ext cx="2670048" cy="141732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3200400" y="3054096"/>
            <a:ext cx="2670048" cy="34747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3255264" y="305409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🔧  Manutenibili</a:t>
            </a:r>
            <a:r>
              <a:rPr b="1" lang="en-US" sz="1200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dade</a:t>
            </a: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291840" y="345643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Exemplo de critério objetivo: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291840" y="3712464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MTTR &lt; 30min • Cobertura 80%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035040" y="3054096"/>
            <a:ext cx="2670048" cy="141732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6035040" y="3054096"/>
            <a:ext cx="2670048" cy="34747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089904" y="305409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👤  Usabilidade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126480" y="345643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Exemplo de critério objetivo: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126480" y="3712464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SUS Score &gt; 80 • A/B testing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 RNFs: Do Vago ao Testável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Como transformar intenções em critérios que a equipe consegue verificar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365760" y="941832"/>
            <a:ext cx="3977640" cy="329184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1" name="Google Shape;161;p5"/>
          <p:cNvSpPr/>
          <p:nvPr/>
        </p:nvSpPr>
        <p:spPr>
          <a:xfrm>
            <a:off x="365760" y="941832"/>
            <a:ext cx="3977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RNF VAGO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434840" y="941832"/>
            <a:ext cx="4343400" cy="32918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3" name="Google Shape;163;p5"/>
          <p:cNvSpPr/>
          <p:nvPr/>
        </p:nvSpPr>
        <p:spPr>
          <a:xfrm>
            <a:off x="4434840" y="941832"/>
            <a:ext cx="4343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✅  RNF TESTÁVEL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65760" y="1325880"/>
            <a:ext cx="3977640" cy="65836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5" name="Google Shape;165;p5"/>
          <p:cNvSpPr/>
          <p:nvPr/>
        </p:nvSpPr>
        <p:spPr>
          <a:xfrm>
            <a:off x="4434840" y="1325880"/>
            <a:ext cx="4343400" cy="65836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6" name="Google Shape;166;p5"/>
          <p:cNvSpPr/>
          <p:nvPr/>
        </p:nvSpPr>
        <p:spPr>
          <a:xfrm>
            <a:off x="475488" y="1362456"/>
            <a:ext cx="3767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020"/>
              <a:buFont typeface="Calibri"/>
              <a:buNone/>
            </a:pPr>
            <a:r>
              <a:rPr b="0" i="0" lang="en-US" sz="142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O sistema deve ser rápido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44568" y="1362456"/>
            <a:ext cx="4133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P95 de resposta &lt; 200ms para /checkout com 500 usuários simultâneos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65760" y="2039112"/>
            <a:ext cx="3977640" cy="658368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9" name="Google Shape;169;p5"/>
          <p:cNvSpPr/>
          <p:nvPr/>
        </p:nvSpPr>
        <p:spPr>
          <a:xfrm>
            <a:off x="4434840" y="2039112"/>
            <a:ext cx="4343400" cy="658368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0" name="Google Shape;170;p5"/>
          <p:cNvSpPr/>
          <p:nvPr/>
        </p:nvSpPr>
        <p:spPr>
          <a:xfrm>
            <a:off x="475488" y="2075688"/>
            <a:ext cx="3767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020"/>
              <a:buFont typeface="Calibri"/>
              <a:buNone/>
            </a:pPr>
            <a:r>
              <a:rPr b="0" i="0" lang="en-US" sz="142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Alta disponibilidade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544568" y="2075688"/>
            <a:ext cx="4133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SLA 99.95% = máx. 4.38h de downtime/ano, medido por uptime externo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65760" y="2752344"/>
            <a:ext cx="3977640" cy="65836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" name="Google Shape;173;p5"/>
          <p:cNvSpPr/>
          <p:nvPr/>
        </p:nvSpPr>
        <p:spPr>
          <a:xfrm>
            <a:off x="4434840" y="2752344"/>
            <a:ext cx="4343400" cy="65836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4" name="Google Shape;174;p5"/>
          <p:cNvSpPr/>
          <p:nvPr/>
        </p:nvSpPr>
        <p:spPr>
          <a:xfrm>
            <a:off x="475488" y="2788920"/>
            <a:ext cx="3767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020"/>
              <a:buFont typeface="Calibri"/>
              <a:buNone/>
            </a:pPr>
            <a:r>
              <a:rPr b="0" i="0" lang="en-US" sz="142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Seguro contra ataques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544568" y="2788920"/>
            <a:ext cx="4133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Nenhuma vulnerabilidade OWASP Top10 · pen test semestral · WAF ativo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65760" y="3465576"/>
            <a:ext cx="3977640" cy="658368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7" name="Google Shape;177;p5"/>
          <p:cNvSpPr/>
          <p:nvPr/>
        </p:nvSpPr>
        <p:spPr>
          <a:xfrm>
            <a:off x="4434840" y="3465576"/>
            <a:ext cx="4343400" cy="658368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8" name="Google Shape;178;p5"/>
          <p:cNvSpPr/>
          <p:nvPr/>
        </p:nvSpPr>
        <p:spPr>
          <a:xfrm>
            <a:off x="475488" y="3502152"/>
            <a:ext cx="3767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020"/>
              <a:buFont typeface="Calibri"/>
              <a:buNone/>
            </a:pPr>
            <a:r>
              <a:rPr b="0" i="0" lang="en-US" sz="142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Fácil de manter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544568" y="3502152"/>
            <a:ext cx="4133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MTTR &lt; 30min · cobertura de testes &gt; 80% · complexidade ciclomática ≤ 10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65760" y="4178808"/>
            <a:ext cx="3977640" cy="65836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5"/>
          <p:cNvSpPr/>
          <p:nvPr/>
        </p:nvSpPr>
        <p:spPr>
          <a:xfrm>
            <a:off x="4434840" y="4178808"/>
            <a:ext cx="4343400" cy="65836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2" name="Google Shape;182;p5"/>
          <p:cNvSpPr/>
          <p:nvPr/>
        </p:nvSpPr>
        <p:spPr>
          <a:xfrm>
            <a:off x="475488" y="4215384"/>
            <a:ext cx="3767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020"/>
              <a:buFont typeface="Calibri"/>
              <a:buNone/>
            </a:pPr>
            <a:r>
              <a:rPr b="0" i="0" lang="en-US" sz="142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Escalável conforme cresce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544568" y="4215384"/>
            <a:ext cx="4133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Auto-scale em &lt; 2min · custo/req constante até 10× carga base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1" name="Google Shape;191;p6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🧪  Prova de Conceito (PoC)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Uma aposta deliberada e descartável para eliminar incerteza técnica antes de comprometer recursos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365760" y="941832"/>
            <a:ext cx="8412480" cy="45720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365760" y="941832"/>
            <a:ext cx="54864" cy="4572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502920" y="941832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💡  PoC não é produto. É um experimento com pergunta clara, tempo limitado e critério objetivo de sucesso ou falha.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65760" y="1481328"/>
            <a:ext cx="2670048" cy="349300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8" name="Google Shape;198;p6"/>
          <p:cNvSpPr/>
          <p:nvPr/>
        </p:nvSpPr>
        <p:spPr>
          <a:xfrm>
            <a:off x="365760" y="1481328"/>
            <a:ext cx="2670048" cy="32918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9" name="Google Shape;199;p6"/>
          <p:cNvSpPr/>
          <p:nvPr/>
        </p:nvSpPr>
        <p:spPr>
          <a:xfrm>
            <a:off x="420624" y="14813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O que é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57200" y="1865376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Código temporário e descartável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57200" y="2313432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Valida UMA hipótese técnica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57200" y="2761488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Sem tratamento de erros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57200" y="3209544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Sem testes automatizados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3657600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Sem code review rigoroso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57200" y="4105656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Duração: horas a 1–2 dias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57200" y="4553712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Entrega: um relatório de decisão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200400" y="1481328"/>
            <a:ext cx="2670048" cy="349300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8" name="Google Shape;208;p6"/>
          <p:cNvSpPr/>
          <p:nvPr/>
        </p:nvSpPr>
        <p:spPr>
          <a:xfrm>
            <a:off x="3200400" y="1481328"/>
            <a:ext cx="2670048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9" name="Google Shape;209;p6"/>
          <p:cNvSpPr/>
          <p:nvPr/>
        </p:nvSpPr>
        <p:spPr>
          <a:xfrm>
            <a:off x="3255264" y="14813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Quando usar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291840" y="1865376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Tecnologia nunca usada no time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291840" y="2313432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Integração com API de terceiro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291840" y="2761488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Dúvida de viabilidade técnica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291840" y="3209544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Risco alto e incerteza alta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291840" y="3657600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Antes de definir arquitetura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291840" y="4105656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Nova linguagem ou framework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291840" y="4553712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Benchmark de performance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035040" y="1481328"/>
            <a:ext cx="2670048" cy="349300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8" name="Google Shape;218;p6"/>
          <p:cNvSpPr/>
          <p:nvPr/>
        </p:nvSpPr>
        <p:spPr>
          <a:xfrm>
            <a:off x="6035040" y="1481328"/>
            <a:ext cx="2670048" cy="32918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9" name="Google Shape;219;p6"/>
          <p:cNvSpPr/>
          <p:nvPr/>
        </p:nvSpPr>
        <p:spPr>
          <a:xfrm>
            <a:off x="6089904" y="14813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Estrutura obrigatória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126480" y="1865376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1. Pergunta clara a responder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126480" y="2313432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2. Hipótese (o que espero?)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126480" y="2761488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3. Critério de sucesso/falha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126480" y="3209544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4. Tempo máximo (timeboxed)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126480" y="3657600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5. Implementação mínima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126480" y="4105656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6. Resultado e evidências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126480" y="4553712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7. Decisão: adotar / descartar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Tracer Bullet Development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 livro The Pragmatic Programmer — implementar end-to-end com funcionalidade mínima real, não descartável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365760" y="941832"/>
            <a:ext cx="8412480" cy="45720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365760" y="941832"/>
            <a:ext cx="54864" cy="4572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502920" y="941832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💡  Tracer Bullet não é throwaway code. É o esqueleto vivo do sistema — produção real, mas com escopo mínimo.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65760" y="14813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Como funciona o Tracer Bullet: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65760" y="1810512"/>
            <a:ext cx="8412480" cy="60350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2" name="Google Shape;242;p7"/>
          <p:cNvSpPr/>
          <p:nvPr/>
        </p:nvSpPr>
        <p:spPr>
          <a:xfrm>
            <a:off x="365760" y="1810512"/>
            <a:ext cx="2560320" cy="60350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3" name="Google Shape;243;p7"/>
          <p:cNvSpPr/>
          <p:nvPr/>
        </p:nvSpPr>
        <p:spPr>
          <a:xfrm>
            <a:off x="457200" y="1810512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UI / API Gateway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3017520" y="1810512"/>
            <a:ext cx="5669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Endpoint real, autenticado, com schema válido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65760" y="2468880"/>
            <a:ext cx="8412480" cy="60350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6" name="Google Shape;246;p7"/>
          <p:cNvSpPr/>
          <p:nvPr/>
        </p:nvSpPr>
        <p:spPr>
          <a:xfrm>
            <a:off x="365760" y="2468880"/>
            <a:ext cx="2560320" cy="60350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7" name="Google Shape;247;p7"/>
          <p:cNvSpPr/>
          <p:nvPr/>
        </p:nvSpPr>
        <p:spPr>
          <a:xfrm>
            <a:off x="457200" y="2468880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Serviço de Negócio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017520" y="2468880"/>
            <a:ext cx="5669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Regra de negócio mínima mas correta e testada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65760" y="3127248"/>
            <a:ext cx="8412480" cy="60350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0" name="Google Shape;250;p7"/>
          <p:cNvSpPr/>
          <p:nvPr/>
        </p:nvSpPr>
        <p:spPr>
          <a:xfrm>
            <a:off x="365760" y="3127248"/>
            <a:ext cx="2560320" cy="6035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1" name="Google Shape;251;p7"/>
          <p:cNvSpPr/>
          <p:nvPr/>
        </p:nvSpPr>
        <p:spPr>
          <a:xfrm>
            <a:off x="457200" y="3127248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Repositório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017520" y="3127248"/>
            <a:ext cx="5669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Persistência real (não mock) — banco configurado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65760" y="3785616"/>
            <a:ext cx="8412480" cy="60350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4" name="Google Shape;254;p7"/>
          <p:cNvSpPr/>
          <p:nvPr/>
        </p:nvSpPr>
        <p:spPr>
          <a:xfrm>
            <a:off x="365760" y="3785616"/>
            <a:ext cx="2560320" cy="60350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5" name="Google Shape;255;p7"/>
          <p:cNvSpPr/>
          <p:nvPr/>
        </p:nvSpPr>
        <p:spPr>
          <a:xfrm>
            <a:off x="457200" y="3785616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Observabilidade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3017520" y="3785616"/>
            <a:ext cx="5669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Log estruturado + métrica + health check desde o dia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65760" y="4498848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Resultado: um fluxo real de ponta a ponta — cliente chama API → regra executa → dado persiste → métrica registrada.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5" name="Google Shape;265;p8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⚖️  PoC · Tracer Bullet · MVP — Quando usar cada um?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Três ferramentas diferentes para momentos diferentes do desenvolvimento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365760" y="960120"/>
            <a:ext cx="2670048" cy="404164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9" name="Google Shape;269;p8"/>
          <p:cNvSpPr/>
          <p:nvPr/>
        </p:nvSpPr>
        <p:spPr>
          <a:xfrm>
            <a:off x="365760" y="960120"/>
            <a:ext cx="2670048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0" name="Google Shape;270;p8"/>
          <p:cNvSpPr/>
          <p:nvPr/>
        </p:nvSpPr>
        <p:spPr>
          <a:xfrm>
            <a:off x="420624" y="96012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🧪  PoC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57200" y="139903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1389888" y="139903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Eliminar incerteza técnica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57200" y="191109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Código: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1389888" y="1911096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Descartável, throwaway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57200" y="24231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Escopo: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389888" y="242316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 pergunta técnica específica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57200" y="293522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Duração: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1389888" y="2935224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Horas a 2 dias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57200" y="344728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Entrega: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1389888" y="3447288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Relatório de decisão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57200" y="395935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Vai a prod?: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1389888" y="395935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❌  Nunca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57200" y="447141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Quando: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1389888" y="4471416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Dúvida técnica crítica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200400" y="960120"/>
            <a:ext cx="2670048" cy="404164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86" name="Google Shape;286;p8"/>
          <p:cNvSpPr/>
          <p:nvPr/>
        </p:nvSpPr>
        <p:spPr>
          <a:xfrm>
            <a:off x="3200400" y="960120"/>
            <a:ext cx="2670048" cy="38404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87" name="Google Shape;287;p8"/>
          <p:cNvSpPr/>
          <p:nvPr/>
        </p:nvSpPr>
        <p:spPr>
          <a:xfrm>
            <a:off x="3255264" y="96012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🎯  Tracer Bullet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291840" y="139903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224528" y="139903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Validar integração end-to-end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291840" y="191109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Código: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224528" y="1911096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Produção real, incremental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291840" y="24231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Escopo: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224528" y="242316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 fluxo completo, mínimo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291840" y="293522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Duração: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224528" y="2935224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Dias a 1 semana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3291840" y="344728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Entrega: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224528" y="3447288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Feature em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291840" y="395935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Vai a prod?: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224528" y="395935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✅  Sim, desde o início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3291840" y="447141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Quando: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224528" y="4471416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Início de sistema novo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6035040" y="960120"/>
            <a:ext cx="2670048" cy="404164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03" name="Google Shape;303;p8"/>
          <p:cNvSpPr/>
          <p:nvPr/>
        </p:nvSpPr>
        <p:spPr>
          <a:xfrm>
            <a:off x="6035040" y="960120"/>
            <a:ext cx="2670048" cy="38404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04" name="Google Shape;304;p8"/>
          <p:cNvSpPr/>
          <p:nvPr/>
        </p:nvSpPr>
        <p:spPr>
          <a:xfrm>
            <a:off x="6089904" y="96012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🚀  MVP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126480" y="139903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7059168" y="139903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Validar hipótese de negócio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126480" y="191109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Código: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7059168" y="1911096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Produção com qualidade mínima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6126480" y="24231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Escopo: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059168" y="242316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Funcionalidades para 1 segmento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6126480" y="293522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Duração: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7059168" y="2935224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Semanas a meses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126480" y="344728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Entrega: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7059168" y="3447288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Produto com usuários reais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126480" y="395935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Vai a prod?: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7059168" y="395935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✅  É o produto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126480" y="447141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Quando: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7059168" y="4471416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Incerteza de produto/mercado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⚖️  Trade-offs Arquiteturais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Toda decisão de arquitetura é uma troca — o trabalho do arquiteto é tornar esse custo explícito e consciente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365760" y="941832"/>
            <a:ext cx="8412480" cy="45720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365760" y="941832"/>
            <a:ext cx="54864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502920" y="941832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💡  'Qualquer tolo pode escrever código que o computador entende. Arquitetos escrevem trade-offs que humanos conseguem viver com.'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365760" y="1481328"/>
            <a:ext cx="8412480" cy="74980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33" name="Google Shape;333;p9"/>
          <p:cNvSpPr/>
          <p:nvPr/>
        </p:nvSpPr>
        <p:spPr>
          <a:xfrm>
            <a:off x="365760" y="1481328"/>
            <a:ext cx="2286000" cy="74980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34" name="Google Shape;334;p9"/>
          <p:cNvSpPr/>
          <p:nvPr/>
        </p:nvSpPr>
        <p:spPr>
          <a:xfrm>
            <a:off x="457200" y="1481328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Consistência forte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2651760" y="1481328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3108960" y="1481328"/>
            <a:ext cx="2286000" cy="74980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37" name="Google Shape;337;p9"/>
          <p:cNvSpPr/>
          <p:nvPr/>
        </p:nvSpPr>
        <p:spPr>
          <a:xfrm>
            <a:off x="3200400" y="1481328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Disponibilidade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5486400" y="1481328"/>
            <a:ext cx="3200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PostgreSQL ACID × DynamoDB eventual consistency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365760" y="2322576"/>
            <a:ext cx="8412480" cy="74980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40" name="Google Shape;340;p9"/>
          <p:cNvSpPr/>
          <p:nvPr/>
        </p:nvSpPr>
        <p:spPr>
          <a:xfrm>
            <a:off x="365760" y="2322576"/>
            <a:ext cx="2286000" cy="7498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41" name="Google Shape;341;p9"/>
          <p:cNvSpPr/>
          <p:nvPr/>
        </p:nvSpPr>
        <p:spPr>
          <a:xfrm>
            <a:off x="457200" y="2322576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Monólito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2651760" y="2322576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3108960" y="2322576"/>
            <a:ext cx="2286000" cy="7498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44" name="Google Shape;344;p9"/>
          <p:cNvSpPr/>
          <p:nvPr/>
        </p:nvSpPr>
        <p:spPr>
          <a:xfrm>
            <a:off x="3200400" y="2322576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Microserviços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5486400" y="2322576"/>
            <a:ext cx="3200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Simples de deployar × escala e resiliência independente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365760" y="3163824"/>
            <a:ext cx="8412480" cy="74980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47" name="Google Shape;347;p9"/>
          <p:cNvSpPr/>
          <p:nvPr/>
        </p:nvSpPr>
        <p:spPr>
          <a:xfrm>
            <a:off x="365760" y="3163824"/>
            <a:ext cx="2286000" cy="7498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48" name="Google Shape;348;p9"/>
          <p:cNvSpPr/>
          <p:nvPr/>
        </p:nvSpPr>
        <p:spPr>
          <a:xfrm>
            <a:off x="457200" y="3163824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REST / HTTP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2651760" y="3163824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3108960" y="3163824"/>
            <a:ext cx="2286000" cy="7498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51" name="Google Shape;351;p9"/>
          <p:cNvSpPr/>
          <p:nvPr/>
        </p:nvSpPr>
        <p:spPr>
          <a:xfrm>
            <a:off x="3200400" y="3163824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gRPC / Protobuf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486400" y="3163824"/>
            <a:ext cx="3200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Adoção universal × 5–10× menos payload, tipagem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65760" y="4005072"/>
            <a:ext cx="8412480" cy="74980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54" name="Google Shape;354;p9"/>
          <p:cNvSpPr/>
          <p:nvPr/>
        </p:nvSpPr>
        <p:spPr>
          <a:xfrm>
            <a:off x="365760" y="4005072"/>
            <a:ext cx="2286000" cy="74980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55" name="Google Shape;355;p9"/>
          <p:cNvSpPr/>
          <p:nvPr/>
        </p:nvSpPr>
        <p:spPr>
          <a:xfrm>
            <a:off x="457200" y="4005072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Deploy rápido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2651760" y="4005072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3108960" y="4005072"/>
            <a:ext cx="2286000" cy="74980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58" name="Google Shape;358;p9"/>
          <p:cNvSpPr/>
          <p:nvPr/>
        </p:nvSpPr>
        <p:spPr>
          <a:xfrm>
            <a:off x="3200400" y="4005072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Segurança rigorosa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5486400" y="4005072"/>
            <a:ext cx="3200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Feature flags × análise SAST/DAST em cada PR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Como documentar: ADR (Architectural Decision Record) — contexto · decisão · consequências · alternativas rejeitadas.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🔬  Fitness Functions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Testes automatizados que verificam se a arquitetura continua respeitando suas restrições ao longo do tempo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365760" y="941832"/>
            <a:ext cx="8412480" cy="457200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365760" y="941832"/>
            <a:ext cx="54864" cy="4572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502920" y="941832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💡  Fitness Functions são 'testes de arquitetura' — executados no CI/CD para garantir que mudanças de código não violam decisões arquiteturais.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365760" y="148132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Onde vivem as Fitness Functions: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365760" y="1792224"/>
            <a:ext cx="1298448" cy="585216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76" name="Google Shape;376;p10"/>
          <p:cNvSpPr/>
          <p:nvPr/>
        </p:nvSpPr>
        <p:spPr>
          <a:xfrm>
            <a:off x="365760" y="1792224"/>
            <a:ext cx="129844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Git Push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1682496" y="1901952"/>
            <a:ext cx="128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1810512" y="1792224"/>
            <a:ext cx="1298448" cy="58521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79" name="Google Shape;379;p10"/>
          <p:cNvSpPr/>
          <p:nvPr/>
        </p:nvSpPr>
        <p:spPr>
          <a:xfrm>
            <a:off x="1810512" y="1792224"/>
            <a:ext cx="129844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127248" y="1901952"/>
            <a:ext cx="128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3255264" y="1792224"/>
            <a:ext cx="1298448" cy="585216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82" name="Google Shape;382;p10"/>
          <p:cNvSpPr/>
          <p:nvPr/>
        </p:nvSpPr>
        <p:spPr>
          <a:xfrm>
            <a:off x="3255264" y="1792224"/>
            <a:ext cx="129844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FF: Latência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572000" y="1901952"/>
            <a:ext cx="128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4700016" y="1792224"/>
            <a:ext cx="1298448" cy="58521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85" name="Google Shape;385;p10"/>
          <p:cNvSpPr/>
          <p:nvPr/>
        </p:nvSpPr>
        <p:spPr>
          <a:xfrm>
            <a:off x="4700016" y="1792224"/>
            <a:ext cx="129844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🏗️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FF: Estrutura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6016752" y="1901952"/>
            <a:ext cx="128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6144768" y="1792224"/>
            <a:ext cx="1298448" cy="585216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88" name="Google Shape;388;p10"/>
          <p:cNvSpPr/>
          <p:nvPr/>
        </p:nvSpPr>
        <p:spPr>
          <a:xfrm>
            <a:off x="6144768" y="1792224"/>
            <a:ext cx="129844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FF: Segurança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7461504" y="1901952"/>
            <a:ext cx="128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7589520" y="1792224"/>
            <a:ext cx="1298448" cy="58521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91" name="Google Shape;391;p10"/>
          <p:cNvSpPr/>
          <p:nvPr/>
        </p:nvSpPr>
        <p:spPr>
          <a:xfrm>
            <a:off x="7589520" y="1792224"/>
            <a:ext cx="129844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365760" y="2468880"/>
            <a:ext cx="2670048" cy="245059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93" name="Google Shape;393;p10"/>
          <p:cNvSpPr/>
          <p:nvPr/>
        </p:nvSpPr>
        <p:spPr>
          <a:xfrm>
            <a:off x="365760" y="2468880"/>
            <a:ext cx="2670048" cy="32918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94" name="Google Shape;394;p10"/>
          <p:cNvSpPr/>
          <p:nvPr/>
        </p:nvSpPr>
        <p:spPr>
          <a:xfrm>
            <a:off x="420624" y="246888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050"/>
              <a:buFont typeface="Calibri"/>
              <a:buNone/>
            </a:pPr>
            <a:r>
              <a:rPr b="1" i="0" lang="en-US" sz="115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FF de Performance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57200" y="287121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Teste de carga no CI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457200" y="337413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P99 &lt; threshold configurado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457200" y="387705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Falha o pipeline se regredir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57200" y="437997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Ex: pytest-benchmark, k6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3200400" y="2468880"/>
            <a:ext cx="2670048" cy="245059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00" name="Google Shape;400;p10"/>
          <p:cNvSpPr/>
          <p:nvPr/>
        </p:nvSpPr>
        <p:spPr>
          <a:xfrm>
            <a:off x="3200400" y="2468880"/>
            <a:ext cx="2670048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01" name="Google Shape;401;p10"/>
          <p:cNvSpPr/>
          <p:nvPr/>
        </p:nvSpPr>
        <p:spPr>
          <a:xfrm>
            <a:off x="3255264" y="246888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050"/>
              <a:buFont typeface="Calibri"/>
              <a:buNone/>
            </a:pPr>
            <a:r>
              <a:rPr b="1" i="0" lang="en-US" sz="115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FF de Estrutura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3291840" y="287121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Verifica dependências proibidas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3291840" y="337413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Módulos não podem se importar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3291840" y="387705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Camadas isoladas por módulo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3291840" y="437997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Ex: import-linter, ArchUnit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6035040" y="2468880"/>
            <a:ext cx="2670048" cy="245059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07" name="Google Shape;407;p10"/>
          <p:cNvSpPr/>
          <p:nvPr/>
        </p:nvSpPr>
        <p:spPr>
          <a:xfrm>
            <a:off x="6035040" y="2468880"/>
            <a:ext cx="2670048" cy="32918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08" name="Google Shape;408;p10"/>
          <p:cNvSpPr/>
          <p:nvPr/>
        </p:nvSpPr>
        <p:spPr>
          <a:xfrm>
            <a:off x="6089904" y="246888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050"/>
              <a:buFont typeface="Calibri"/>
              <a:buNone/>
            </a:pPr>
            <a:r>
              <a:rPr b="1" i="0" lang="en-US" sz="115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FF de Complexidade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6126480" y="287121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Complexidade ciclomática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6126480" y="337413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Tamanho máximo de módulo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6126480" y="387705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Cobertura mínima de testes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6126480" y="437997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Ex: radon, SonarQube rules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🧪  PoC na Prática — Exemplo Simples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Cenário: time discute se vale usar banco NoSQL. Como validar antes de comprometer a arquitetura?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365760" y="941832"/>
            <a:ext cx="8412480" cy="420624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502920" y="941832"/>
            <a:ext cx="8138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📌  Contexto: a startup CrediNow precisa armazenar perfis de usuários com campos variáveis por cliente. O time debate: PostgreSQL (conhecido) ou MongoDB (flexível)?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365760" y="1444752"/>
            <a:ext cx="2011680" cy="340156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26" name="Google Shape;426;p12"/>
          <p:cNvSpPr/>
          <p:nvPr/>
        </p:nvSpPr>
        <p:spPr>
          <a:xfrm>
            <a:off x="365760" y="1444752"/>
            <a:ext cx="2011680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27" name="Google Shape;427;p12"/>
          <p:cNvSpPr/>
          <p:nvPr/>
        </p:nvSpPr>
        <p:spPr>
          <a:xfrm>
            <a:off x="420624" y="1444752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1. Pergunta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57200" y="1901952"/>
            <a:ext cx="18288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MongoDB suporta queries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 perfil em &lt; 30ms com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10k usuários simultâneos?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2542032" y="1444752"/>
            <a:ext cx="2011680" cy="340156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0" name="Google Shape;430;p12"/>
          <p:cNvSpPr/>
          <p:nvPr/>
        </p:nvSpPr>
        <p:spPr>
          <a:xfrm>
            <a:off x="2542032" y="1444752"/>
            <a:ext cx="2011680" cy="38404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1" name="Google Shape;431;p12"/>
          <p:cNvSpPr/>
          <p:nvPr/>
        </p:nvSpPr>
        <p:spPr>
          <a:xfrm>
            <a:off x="2596896" y="1444752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2. Hipótese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2633472" y="1901952"/>
            <a:ext cx="18288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Schema flexível evita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JOINs e vai ser mais rápido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que PostgreSQL JSONB.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4718304" y="1444752"/>
            <a:ext cx="2011680" cy="340156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4" name="Google Shape;434;p12"/>
          <p:cNvSpPr/>
          <p:nvPr/>
        </p:nvSpPr>
        <p:spPr>
          <a:xfrm>
            <a:off x="4718304" y="1444752"/>
            <a:ext cx="2011680" cy="38404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5" name="Google Shape;435;p12"/>
          <p:cNvSpPr/>
          <p:nvPr/>
        </p:nvSpPr>
        <p:spPr>
          <a:xfrm>
            <a:off x="4773168" y="1444752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3. Experimento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4809744" y="1901952"/>
            <a:ext cx="18288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Inserir 100k documentos.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Rodar query de busca.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Medir P50, P95, P99.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894576" y="1444752"/>
            <a:ext cx="2011680" cy="340156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8" name="Google Shape;438;p12"/>
          <p:cNvSpPr/>
          <p:nvPr/>
        </p:nvSpPr>
        <p:spPr>
          <a:xfrm>
            <a:off x="6894576" y="1444752"/>
            <a:ext cx="2011680" cy="38404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9" name="Google Shape;439;p12"/>
          <p:cNvSpPr/>
          <p:nvPr/>
        </p:nvSpPr>
        <p:spPr>
          <a:xfrm>
            <a:off x="6949440" y="1444752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4. Resultado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6986016" y="1901952"/>
            <a:ext cx="18288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MongoDB: P99 = 18ms 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PostgreSQL JSONB: P99 = 22ms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Diferença pequena → PostgreSQL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mantido (time já conhece).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✅  Decisão: manter PostgreSQL. PoC durou 3h. Economizou semanas de refatoração futura. Resultado registrado em ADR-001.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  MVP na Prática — Exemplo Simples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Cenário: startup quer lançar app de delivery. O que entra no MVP e o que fica de fora?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365760" y="94183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que faz um MVP ser um MVP — e não um produto incompleto?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365760" y="1243584"/>
            <a:ext cx="3977640" cy="32918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365760" y="1243584"/>
            <a:ext cx="3977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✅  ENTRA NO MVP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4434840" y="1243584"/>
            <a:ext cx="4343400" cy="329184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4434840" y="1243584"/>
            <a:ext cx="4343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❌  FICA PARA DEPOIS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365760" y="1627632"/>
            <a:ext cx="3977640" cy="53035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59" name="Google Shape;459;p13"/>
          <p:cNvSpPr/>
          <p:nvPr/>
        </p:nvSpPr>
        <p:spPr>
          <a:xfrm>
            <a:off x="4434840" y="1627632"/>
            <a:ext cx="4343400" cy="53035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475488" y="1664208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Cadastro simples (email + senha)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4544568" y="1664208"/>
            <a:ext cx="4133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Login social (Google, Facebook)</a:t>
            </a:r>
            <a:endParaRPr b="0" i="0" sz="122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365760" y="2212848"/>
            <a:ext cx="3977640" cy="530352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3" name="Google Shape;463;p13"/>
          <p:cNvSpPr/>
          <p:nvPr/>
        </p:nvSpPr>
        <p:spPr>
          <a:xfrm>
            <a:off x="4434840" y="2212848"/>
            <a:ext cx="4343400" cy="530352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475488" y="2249424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Listagem de restaurantes próximos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4544568" y="2249424"/>
            <a:ext cx="4133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Filtro avançado por culinária / preço</a:t>
            </a:r>
            <a:endParaRPr b="0" i="0" sz="122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365760" y="2798064"/>
            <a:ext cx="3977640" cy="53035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7" name="Google Shape;467;p13"/>
          <p:cNvSpPr/>
          <p:nvPr/>
        </p:nvSpPr>
        <p:spPr>
          <a:xfrm>
            <a:off x="4434840" y="2798064"/>
            <a:ext cx="4343400" cy="53035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475488" y="2834640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Pedido de 1 item com pagamento no cartão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4544568" y="2834640"/>
            <a:ext cx="4133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Múltiplos itens, cupons, split de conta</a:t>
            </a:r>
            <a:endParaRPr b="0" i="0" sz="122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365760" y="3383280"/>
            <a:ext cx="3977640" cy="530352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71" name="Google Shape;471;p13"/>
          <p:cNvSpPr/>
          <p:nvPr/>
        </p:nvSpPr>
        <p:spPr>
          <a:xfrm>
            <a:off x="4434840" y="3383280"/>
            <a:ext cx="4343400" cy="530352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75488" y="3419856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Rastreamento básico (status do pedido)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4544568" y="3419856"/>
            <a:ext cx="4133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Mapa em tempo real do entregador</a:t>
            </a:r>
            <a:endParaRPr b="0" i="0" sz="122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365760" y="3968496"/>
            <a:ext cx="3977640" cy="53035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75" name="Google Shape;475;p13"/>
          <p:cNvSpPr/>
          <p:nvPr/>
        </p:nvSpPr>
        <p:spPr>
          <a:xfrm>
            <a:off x="4434840" y="3968496"/>
            <a:ext cx="4343400" cy="530352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475488" y="4005072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Avaliação com nota 1-5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4544568" y="4005072"/>
            <a:ext cx="4133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Comentários, fotos, respostas do restaurante</a:t>
            </a:r>
            <a:endParaRPr b="0" i="0" sz="122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365760" y="4590288"/>
            <a:ext cx="8412480" cy="219456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502920" y="459028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💡  MVP não é versão ruim do produto. É a versão mínima que valida a hipótese central: 'pessoas pagam por delivery via app?'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1A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⚖️  Trade-off na Prática — Exemplo Simples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Cenário: o mesmo app de delivery precisa escolher como salvar os pedidos. Qual banco usar?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4"/>
          <p:cNvSpPr/>
          <p:nvPr/>
        </p:nvSpPr>
        <p:spPr>
          <a:xfrm>
            <a:off x="365760" y="941832"/>
            <a:ext cx="8412480" cy="38404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502920" y="94183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📌  Pergunta real: 'Para o histórico de pedidos do usuário, usamos PostgreSQL ou MongoDB?' — Não existe resposta certa. Existe trade-off.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365760" y="1389888"/>
            <a:ext cx="4114800" cy="34747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3" name="Google Shape;493;p14"/>
          <p:cNvSpPr/>
          <p:nvPr/>
        </p:nvSpPr>
        <p:spPr>
          <a:xfrm>
            <a:off x="438912" y="1389888"/>
            <a:ext cx="39684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🐘  PostgreSQL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4709160" y="1389888"/>
            <a:ext cx="4114800" cy="34747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5" name="Google Shape;495;p14"/>
          <p:cNvSpPr/>
          <p:nvPr/>
        </p:nvSpPr>
        <p:spPr>
          <a:xfrm>
            <a:off x="4782312" y="1389888"/>
            <a:ext cx="39684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E1A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0F0E1A"/>
                </a:solidFill>
                <a:latin typeface="Calibri"/>
                <a:ea typeface="Calibri"/>
                <a:cs typeface="Calibri"/>
                <a:sym typeface="Calibri"/>
              </a:rPr>
              <a:t>🍃  MongoDB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365760" y="1810512"/>
            <a:ext cx="1234440" cy="493776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7" name="Google Shape;497;p14"/>
          <p:cNvSpPr/>
          <p:nvPr/>
        </p:nvSpPr>
        <p:spPr>
          <a:xfrm>
            <a:off x="402336" y="1810512"/>
            <a:ext cx="11612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Schema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1627632" y="1810512"/>
            <a:ext cx="3035808" cy="493776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9" name="Google Shape;499;p14"/>
          <p:cNvSpPr/>
          <p:nvPr/>
        </p:nvSpPr>
        <p:spPr>
          <a:xfrm>
            <a:off x="1719072" y="1837944"/>
            <a:ext cx="28529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Fixo — precisa migração para mudar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4709160" y="1810512"/>
            <a:ext cx="4069080" cy="493776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1" name="Google Shape;501;p14"/>
          <p:cNvSpPr/>
          <p:nvPr/>
        </p:nvSpPr>
        <p:spPr>
          <a:xfrm>
            <a:off x="4800600" y="1837944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Flexível — adiciona campo sem migrar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365760" y="2359152"/>
            <a:ext cx="1234440" cy="493776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3" name="Google Shape;503;p14"/>
          <p:cNvSpPr/>
          <p:nvPr/>
        </p:nvSpPr>
        <p:spPr>
          <a:xfrm>
            <a:off x="402336" y="2359152"/>
            <a:ext cx="11612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Queries complexas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1627632" y="2359152"/>
            <a:ext cx="3035808" cy="493776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5" name="Google Shape;505;p14"/>
          <p:cNvSpPr/>
          <p:nvPr/>
        </p:nvSpPr>
        <p:spPr>
          <a:xfrm>
            <a:off x="1719072" y="2386584"/>
            <a:ext cx="28529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JOINs nativos — fácil relacionar pedido×item×usuário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4709160" y="2359152"/>
            <a:ext cx="4069080" cy="493776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7" name="Google Shape;507;p14"/>
          <p:cNvSpPr/>
          <p:nvPr/>
        </p:nvSpPr>
        <p:spPr>
          <a:xfrm>
            <a:off x="4800600" y="2386584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Precisa desnormalizar ou usar $lookup (mais lento)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365760" y="2907792"/>
            <a:ext cx="1234440" cy="493776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9" name="Google Shape;509;p14"/>
          <p:cNvSpPr/>
          <p:nvPr/>
        </p:nvSpPr>
        <p:spPr>
          <a:xfrm>
            <a:off x="402336" y="2907792"/>
            <a:ext cx="11612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1627632" y="2907792"/>
            <a:ext cx="3035808" cy="493776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1" name="Google Shape;511;p14"/>
          <p:cNvSpPr/>
          <p:nvPr/>
        </p:nvSpPr>
        <p:spPr>
          <a:xfrm>
            <a:off x="1719072" y="2935224"/>
            <a:ext cx="28529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ACID completo — ideal para pedidos e pagamentos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4709160" y="2907792"/>
            <a:ext cx="4069080" cy="493776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3" name="Google Shape;513;p14"/>
          <p:cNvSpPr/>
          <p:nvPr/>
        </p:nvSpPr>
        <p:spPr>
          <a:xfrm>
            <a:off x="4800600" y="2935224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Transações multi-doc recentes, mais complexas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365760" y="3456432"/>
            <a:ext cx="1234440" cy="493776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5" name="Google Shape;515;p14"/>
          <p:cNvSpPr/>
          <p:nvPr/>
        </p:nvSpPr>
        <p:spPr>
          <a:xfrm>
            <a:off x="402336" y="3456432"/>
            <a:ext cx="11612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Escala de leitura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1627632" y="3456432"/>
            <a:ext cx="3035808" cy="493776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7" name="Google Shape;517;p14"/>
          <p:cNvSpPr/>
          <p:nvPr/>
        </p:nvSpPr>
        <p:spPr>
          <a:xfrm>
            <a:off x="1719072" y="3483864"/>
            <a:ext cx="28529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Replicas de leitura — configuração simples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4709160" y="3456432"/>
            <a:ext cx="4069080" cy="493776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9" name="Google Shape;519;p14"/>
          <p:cNvSpPr/>
          <p:nvPr/>
        </p:nvSpPr>
        <p:spPr>
          <a:xfrm>
            <a:off x="4800600" y="3483864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Sharding nativo — escala horizontal mais fácil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365760" y="4005072"/>
            <a:ext cx="1234440" cy="493776"/>
          </a:xfrm>
          <a:prstGeom prst="rect">
            <a:avLst/>
          </a:prstGeom>
          <a:solidFill>
            <a:srgbClr val="1A1828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1" name="Google Shape;521;p14"/>
          <p:cNvSpPr/>
          <p:nvPr/>
        </p:nvSpPr>
        <p:spPr>
          <a:xfrm>
            <a:off x="402336" y="4005072"/>
            <a:ext cx="11612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Curva do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1627632" y="4005072"/>
            <a:ext cx="3035808" cy="493776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3" name="Google Shape;523;p14"/>
          <p:cNvSpPr/>
          <p:nvPr/>
        </p:nvSpPr>
        <p:spPr>
          <a:xfrm>
            <a:off x="1719072" y="4032504"/>
            <a:ext cx="28529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Time já conhece — onboarding zero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4709160" y="4005072"/>
            <a:ext cx="4069080" cy="493776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5" name="Google Shape;525;p14"/>
          <p:cNvSpPr/>
          <p:nvPr/>
        </p:nvSpPr>
        <p:spPr>
          <a:xfrm>
            <a:off x="4800600" y="4032504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Aprendizado novo — custo de treinamento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365760" y="4608576"/>
            <a:ext cx="8412480" cy="219456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502920" y="4608576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💡  Decisão final: PostgreSQL — time já conhece, pedidos precisam de ACID, schema de pedido é estável. Documentado em ADR-002.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1A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6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Resumo — Unidade 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365760" y="713232"/>
            <a:ext cx="8412480" cy="61264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37" name="Google Shape;537;p16"/>
          <p:cNvSpPr/>
          <p:nvPr/>
        </p:nvSpPr>
        <p:spPr>
          <a:xfrm>
            <a:off x="365760" y="713232"/>
            <a:ext cx="54864" cy="61264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38" name="Google Shape;538;p16"/>
          <p:cNvSpPr/>
          <p:nvPr/>
        </p:nvSpPr>
        <p:spPr>
          <a:xfrm>
            <a:off x="475488" y="713232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1060704" y="713232"/>
            <a:ext cx="74980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 arquiteto não é o dev mais sênior — é quem torna explícito o custo de cada decisão e preserva opções de mudança.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365760" y="1417320"/>
            <a:ext cx="8412480" cy="61264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1" name="Google Shape;541;p16"/>
          <p:cNvSpPr/>
          <p:nvPr/>
        </p:nvSpPr>
        <p:spPr>
          <a:xfrm>
            <a:off x="365760" y="1417320"/>
            <a:ext cx="54864" cy="61264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2" name="Google Shape;542;p16"/>
          <p:cNvSpPr/>
          <p:nvPr/>
        </p:nvSpPr>
        <p:spPr>
          <a:xfrm>
            <a:off x="475488" y="1417320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1060704" y="1417320"/>
            <a:ext cx="74980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RNF vago é promessa impossível. Todo atributo de qualidade precisa de critério mensurável: P99, SLA em horas, MTTR em minutos.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365760" y="2121408"/>
            <a:ext cx="8412480" cy="61264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5" name="Google Shape;545;p16"/>
          <p:cNvSpPr/>
          <p:nvPr/>
        </p:nvSpPr>
        <p:spPr>
          <a:xfrm>
            <a:off x="365760" y="2121408"/>
            <a:ext cx="54864" cy="6126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6" name="Google Shape;546;p16"/>
          <p:cNvSpPr/>
          <p:nvPr/>
        </p:nvSpPr>
        <p:spPr>
          <a:xfrm>
            <a:off x="475488" y="2121408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6"/>
          <p:cNvSpPr/>
          <p:nvPr/>
        </p:nvSpPr>
        <p:spPr>
          <a:xfrm>
            <a:off x="1060704" y="2121408"/>
            <a:ext cx="74980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PoC é código descartável com pergunta clara, timebox definido e critério de saída. Nunca vai a produção — serve para decidir.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6"/>
          <p:cNvSpPr/>
          <p:nvPr/>
        </p:nvSpPr>
        <p:spPr>
          <a:xfrm>
            <a:off x="365760" y="2825496"/>
            <a:ext cx="8412480" cy="61264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9" name="Google Shape;549;p16"/>
          <p:cNvSpPr/>
          <p:nvPr/>
        </p:nvSpPr>
        <p:spPr>
          <a:xfrm>
            <a:off x="365760" y="2825496"/>
            <a:ext cx="54864" cy="61264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50" name="Google Shape;550;p16"/>
          <p:cNvSpPr/>
          <p:nvPr/>
        </p:nvSpPr>
        <p:spPr>
          <a:xfrm>
            <a:off x="475488" y="2825496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1060704" y="2825496"/>
            <a:ext cx="74980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Tracer Bullet é código de produção mínimo end-to-end — não é descartável, é o esqueleto vivo do sistema desde o primeiro dia.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365760" y="3529584"/>
            <a:ext cx="8412480" cy="61264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53" name="Google Shape;553;p16"/>
          <p:cNvSpPr/>
          <p:nvPr/>
        </p:nvSpPr>
        <p:spPr>
          <a:xfrm>
            <a:off x="365760" y="3529584"/>
            <a:ext cx="54864" cy="61264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54" name="Google Shape;554;p16"/>
          <p:cNvSpPr/>
          <p:nvPr/>
        </p:nvSpPr>
        <p:spPr>
          <a:xfrm>
            <a:off x="475488" y="3529584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1060704" y="3529584"/>
            <a:ext cx="74980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Trade-offs são inevitáveis. O arquiteto documenta a decisão, o contexto e as alternativas rejeitadas em ADRs — para o time do futuro.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365760" y="4233672"/>
            <a:ext cx="8412480" cy="612648"/>
          </a:xfrm>
          <a:prstGeom prst="rect">
            <a:avLst/>
          </a:prstGeom>
          <a:solidFill>
            <a:srgbClr val="0C0B14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57" name="Google Shape;557;p16"/>
          <p:cNvSpPr/>
          <p:nvPr/>
        </p:nvSpPr>
        <p:spPr>
          <a:xfrm>
            <a:off x="365760" y="4233672"/>
            <a:ext cx="54864" cy="612648"/>
          </a:xfrm>
          <a:prstGeom prst="rect">
            <a:avLst/>
          </a:prstGeom>
          <a:solidFill>
            <a:srgbClr val="EAB30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58" name="Google Shape;558;p16"/>
          <p:cNvSpPr/>
          <p:nvPr/>
        </p:nvSpPr>
        <p:spPr>
          <a:xfrm>
            <a:off x="475488" y="4233672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6"/>
          <p:cNvSpPr/>
          <p:nvPr/>
        </p:nvSpPr>
        <p:spPr>
          <a:xfrm>
            <a:off x="1060704" y="4233672"/>
            <a:ext cx="74980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20"/>
              <a:buFont typeface="Calibri"/>
              <a:buNone/>
            </a:pPr>
            <a:r>
              <a:rPr b="0" i="0" lang="en-US" sz="122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Fitness Functions automatizam a vigilância da arquitetura: se uma mudança viola uma restrição arquitetural, o pipeline falha — não o cliente.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Próximo: Unidade 2 — Documentação Arquitetural · C4 Model · ADRs · Visões 4+1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2026-03-11T17:53:25Z</dcterms:created>
  <dc:creator>PptxGenJS</dc:creator>
</cp:coreProperties>
</file>