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ozPGhYcitpyMab2MOT8t9z29e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IEEE (Institute of Electrical and Electronics Engineers)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BDUF (Big Design Up Front, ou "Grande Design Antecipado") é uma abordagem de desenvolvimento de software, típica do modelo cascata, onde todo o design, requisitos e arquitetura devem ser finalizados antes do início da implementação.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1f4f215e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1f4f215e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1f4f215e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1f4f215ea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d1f4f215ea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1f4f215ea_1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1f4f215ea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d1f4f215ea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1f4f215ea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1f4f215ea_1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1f4f215ea_1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d1f4f215ea_1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1f4f215ea_1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d1f4f215ea_1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1f4f215ea_1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67eed8c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967eed8c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967eed8c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968aa6e9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968aa6e9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968aa6e94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d1f4f215ea_1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d1f4f215ea_1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d1f4f215ea_1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16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11480" y="475488"/>
            <a:ext cx="2560320" cy="42062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11480" y="47548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05A28"/>
                </a:solidFill>
                <a:latin typeface="Trebuchet MS"/>
                <a:ea typeface="Trebuchet MS"/>
                <a:cs typeface="Trebuchet MS"/>
                <a:sym typeface="Trebuchet MS"/>
              </a:rPr>
              <a:t>UNIDADE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" y="1024128"/>
            <a:ext cx="832104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Documentação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Arquitetural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224942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Como registrar decisões que o time do futuro vai entender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2724912"/>
            <a:ext cx="3840480" cy="36576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11480" y="2889504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1"/>
          <p:cNvSpPr/>
          <p:nvPr/>
        </p:nvSpPr>
        <p:spPr>
          <a:xfrm>
            <a:off x="521208" y="2889504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📄  Por que Documentar?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46120" y="2889504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1"/>
          <p:cNvSpPr/>
          <p:nvPr/>
        </p:nvSpPr>
        <p:spPr>
          <a:xfrm>
            <a:off x="3355848" y="2889504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🗺️  C4 Model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80760" y="2889504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" name="Google Shape;28;p1"/>
          <p:cNvSpPr/>
          <p:nvPr/>
        </p:nvSpPr>
        <p:spPr>
          <a:xfrm>
            <a:off x="6190488" y="2889504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📝  ADRs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3657600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1"/>
          <p:cNvSpPr/>
          <p:nvPr/>
        </p:nvSpPr>
        <p:spPr>
          <a:xfrm>
            <a:off x="521208" y="3657600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👁️  Visões 4+1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246120" y="3657600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" name="Google Shape;32;p1"/>
          <p:cNvSpPr/>
          <p:nvPr/>
        </p:nvSpPr>
        <p:spPr>
          <a:xfrm>
            <a:off x="3355848" y="3657600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💻  Docs-as-Code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80760" y="3657600"/>
            <a:ext cx="2651760" cy="658368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1"/>
          <p:cNvSpPr/>
          <p:nvPr/>
        </p:nvSpPr>
        <p:spPr>
          <a:xfrm>
            <a:off x="6190488" y="3657600"/>
            <a:ext cx="24323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🏭  Cases + Referências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 e Arquitetura de Software II  •  Engenharia de Software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 — Unidade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Seis tópicos que constroem uma visão completa de documentação arquitetural útil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1051560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11480" y="1051560"/>
            <a:ext cx="512064" cy="111556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" y="1051560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33272" y="1143000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Documentar?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33272" y="1490472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custo real de não documentar e os anti-patterns mais comuns.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0" y="1051560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54880" y="1051560"/>
            <a:ext cx="512064" cy="1115568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754880" y="1051560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76672" y="1143000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C4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76672" y="1490472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Quatro níveis de abstração para comunicar arquitetura para diferentes públicos.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11480" y="2313432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11480" y="2313432"/>
            <a:ext cx="512064" cy="11155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11480" y="2313432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33272" y="2404872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ADRs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33272" y="2752344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Architectural Decision Records — registrar o porquê, não só o quê.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2313432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54880" y="2313432"/>
            <a:ext cx="512064" cy="11155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754880" y="2313432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76672" y="2404872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Visões 4+1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76672" y="2752344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Kruchten: Lógica, Processo, Física, Desenvolvimento e Cenários.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11480" y="3575304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11480" y="3575304"/>
            <a:ext cx="512064" cy="111556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11480" y="3575304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033272" y="3666744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Docs-as-Code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33272" y="4014216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Mermaid, Structurizr DSL e MkDocs — documentação versionada no Git.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754880" y="3575304"/>
            <a:ext cx="4160520" cy="11155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754880" y="3575304"/>
            <a:ext cx="512064" cy="1115568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754880" y="3575304"/>
            <a:ext cx="51206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376672" y="3666744"/>
            <a:ext cx="3419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Cases Reais + Referências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76672" y="4014216"/>
            <a:ext cx="34198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Nubank, Spotify e Mercado Livre — e a bibliografia completa.</a:t>
            </a:r>
            <a:endParaRPr b="0" i="0" sz="122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0" y="5008550"/>
            <a:ext cx="9144000" cy="135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📄  Por que Documentar Arquitetura?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documentação não é o entregável — é o que permite ao sistema evoluir com segurança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1480" y="1005840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1005840"/>
            <a:ext cx="64008" cy="493776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66928" y="1005840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'Um sistema sem documentação arquitetural funciona. Até que alguém precisa mudá-lo.' — Simon Brown, 2018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1591056"/>
            <a:ext cx="8321040" cy="96926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11480" y="1591056"/>
            <a:ext cx="64008" cy="96926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66928" y="1645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🔄  Onboarding lento e custoso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66928" y="1956816"/>
            <a:ext cx="8083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Sem documentação, cada novo engenheiro gasta semanas reconstruindo o mapa mental do sistema. Em empresas com turnover alto, esse custo se multiplica a cada saída. Estudos do IEEE estimam que 30-40% do tempo de manutenção é gasto em compreensão de código não documentado.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2670048"/>
            <a:ext cx="8321040" cy="96926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11480" y="2670048"/>
            <a:ext cx="64008" cy="969264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66928" y="27249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⚠️  Decisões </a:t>
            </a:r>
            <a:r>
              <a:rPr b="1" lang="en-US" sz="13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discutidas</a:t>
            </a: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 em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66928" y="3035808"/>
            <a:ext cx="8083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'Por que usamos MongoDB aqui? Postgres não seria melhor?' — quando o contexto da decisão não foi registrado, o time refaz o mesmo debate meses depois, sem os dados que levaram à escolha original. Energia desperdiçada em discussão ao invés de construção.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11480" y="3749040"/>
            <a:ext cx="8321040" cy="96926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11480" y="3749040"/>
            <a:ext cx="64008" cy="969264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66928" y="38039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💸  Refatorações que não deveriam existir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66928" y="4114800"/>
            <a:ext cx="8083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Arquiteturas são alteradas porque ninguém entendeu as restrições originais. Um ADR de 15 minutos poderia ter evitado semanas de retrabalho. O custo de não documentar se materializa não hoje, mas em 6, 12, 24 meses.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11480" y="5035423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📚  Brown, S. (2018). Software Architecture for Developers. Leanpub.  |  IEEE Std 1016-2009 — Software Design Descriptions.</a:t>
            </a:r>
            <a:endParaRPr b="0" i="0" sz="7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Anti-pattern 1 — Big Design Upfront (BDUF)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Documentar tudo antes de começar parece prudente. Na prática, gera desperdício em escala.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11480" y="987552"/>
            <a:ext cx="3977700" cy="39135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11480" y="987552"/>
            <a:ext cx="3977640" cy="34747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12064" y="987552"/>
            <a:ext cx="3785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❌  Como o BDUF acontece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30352" y="14081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Sprint 0 inteiro dedicado a diagramas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30352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Documento de 80 páginas antes do primeiro commit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0352" y="224942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Todo o schema de banco definido upfront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30352" y="267004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Arquitetura congelada antes de entender o domínio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0352" y="309067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Resultado: doc desatualizada no sprint 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30352" y="351129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Ninguém lê, ninguém mantém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26280" y="987552"/>
            <a:ext cx="4206240" cy="39136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26280" y="987552"/>
            <a:ext cx="4206240" cy="34747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626864" y="987552"/>
            <a:ext cx="4005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Documentação incremental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645152" y="1408176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Documenta o que já foi decidido, não o futuro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645152" y="1828800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1 ADR por decisão arquitetural — 15 min cada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645152" y="2249424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C4 L1 no dia 1, L2 quando containers existirem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645152" y="2670048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Revisão em PR: doc junto com o código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645152" y="3090672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Docs-as-Code: automaticamente sincronizada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45152" y="3511296"/>
            <a:ext cx="3986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Time mantém porque é simples de manter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11480" y="5055267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Fowler, M. (2004). Is Design Dead? martinfowler.com  |  Beck, K. et al. (2001). Manifesto for Agile Software Development. agilemanifesto.org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Anti-pattern 2 — Documentação Fora de Sincronia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diagrama diz uma coisa, o código faz outra. Os dois estão errados — mas o código é que vale.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'Documentação errada é pior que ausente — induz o leitor a conclusões falsas sobre o sistema.' — Martin Fowler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11480" y="1525818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Como a sincronia se perde ao longo do tempo: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11480" y="1754919"/>
            <a:ext cx="1280100" cy="5487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11480" y="1754919"/>
            <a:ext cx="128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783080" y="1992663"/>
            <a:ext cx="255900" cy="915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057400" y="1754919"/>
            <a:ext cx="6675000" cy="5487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2176272" y="1754919"/>
            <a:ext cx="645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C4 criado. Código e doc alinhados.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11480" y="2449863"/>
            <a:ext cx="1280100" cy="548700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11480" y="2449863"/>
            <a:ext cx="128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783080" y="2687607"/>
            <a:ext cx="255900" cy="91500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057400" y="2449863"/>
            <a:ext cx="6675000" cy="5487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176272" y="2449863"/>
            <a:ext cx="645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Novo serviço de notificação adicionado. Diagrama não atualizado.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11480" y="3144807"/>
            <a:ext cx="1280100" cy="5487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11480" y="3144807"/>
            <a:ext cx="128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783080" y="3382551"/>
            <a:ext cx="255900" cy="915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057400" y="3144807"/>
            <a:ext cx="6675000" cy="5487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176272" y="3144807"/>
            <a:ext cx="645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Banco migrado de Mongo para Postgres. Doc ainda diz Mongo.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11480" y="3839751"/>
            <a:ext cx="1280100" cy="54870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11480" y="3839751"/>
            <a:ext cx="128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783080" y="4077495"/>
            <a:ext cx="255900" cy="9150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057400" y="3839751"/>
            <a:ext cx="6675000" cy="5487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176272" y="3839751"/>
            <a:ext cx="645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 novo lê a doc, implementa baseado nela. Bug em produção.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11480" y="4461034"/>
            <a:ext cx="8321100" cy="4938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11480" y="4461034"/>
            <a:ext cx="63900" cy="4938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66928" y="4461034"/>
            <a:ext cx="808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✅  Solução: Docs-as-Code — diagramas como arquivos no repositório, gerados no CI. Se o diagrama não compila, o PR não passa.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11480" y="5056578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📚  Fowler, M. (2003). DocumentationAndAgileMethods. martinfowler.com/bliki  |  Penev, A. (2021). Docs-as-Code. Write the Docs.</a:t>
            </a:r>
            <a:endParaRPr b="0" i="0" sz="7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0" y="5003925"/>
            <a:ext cx="9144000" cy="139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Anti-pattern 3 — Decisão Arquitetural sem Contexto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decisão ficou registrada. O porquê não. Seis meses depois, ninguém sabe por onde começar a questionar.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11480" y="987552"/>
            <a:ext cx="8321040" cy="142646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11480" y="987552"/>
            <a:ext cx="8321040" cy="32918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12064" y="9875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Cena real: Pull Request de refatoração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66928" y="1371600"/>
            <a:ext cx="8083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Dev A:  'Ei, por que usamos RabbitMQ aqui? Kafka não seria melhor?'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66928" y="1719072"/>
            <a:ext cx="8083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 B:  'Não sei. Estava assim quando entrei no time.'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66928" y="2066544"/>
            <a:ext cx="8083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Dev A:  'Vou propor a migração então.'  ← Horas de investigação que poderiam ser 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11480" y="24871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que deveria existir: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11480" y="2816352"/>
            <a:ext cx="4160520" cy="84124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7" name="Google Shape;187;p6"/>
          <p:cNvSpPr/>
          <p:nvPr/>
        </p:nvSpPr>
        <p:spPr>
          <a:xfrm>
            <a:off x="521208" y="287121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📋  Contexto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21208" y="3163824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 2022, o volume era 5k msg/s. Kafka tem overhead operacional alto para esse volume.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54880" y="2816352"/>
            <a:ext cx="4160520" cy="84124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0" name="Google Shape;190;p6"/>
          <p:cNvSpPr/>
          <p:nvPr/>
        </p:nvSpPr>
        <p:spPr>
          <a:xfrm>
            <a:off x="4864608" y="287121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✅  Decisão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64608" y="3163824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Adotamos RabbitMQ — operacionalmente mais simples para a escala atual.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11480" y="3803904"/>
            <a:ext cx="4160520" cy="84124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" name="Google Shape;193;p6"/>
          <p:cNvSpPr/>
          <p:nvPr/>
        </p:nvSpPr>
        <p:spPr>
          <a:xfrm>
            <a:off x="521208" y="38587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⚖️  Trade-off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21208" y="4151376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Aceito: Kafka seria melhor acima de 50k msg/s. Quando chegarmos lá, revisamos.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754880" y="3803904"/>
            <a:ext cx="4160520" cy="84124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6" name="Google Shape;196;p6"/>
          <p:cNvSpPr/>
          <p:nvPr/>
        </p:nvSpPr>
        <p:spPr>
          <a:xfrm>
            <a:off x="4864608" y="38587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🗒️  Alternativas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864608" y="4151376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Kafka avaliado e descartado por complexidade operacional prematura.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48030" y="5027923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📚  Nygard, M.T. (2011). Documenting Architecture Decisions. cognitect.com/blog  |  Keeling, M. (2017). Design It! Pragmatic Bookshelf.</a:t>
            </a:r>
            <a:endParaRPr b="0" i="0" sz="7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0" y="5052050"/>
            <a:ext cx="9144000" cy="91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Model — O que é?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Uma abordagem para criar mapas de software em diferentes níveis de zoom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C4 resolve o problema do diagrama único que tenta comunicar tudo para todos — e não comunica nada para ninguém.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11480" y="1554480"/>
            <a:ext cx="3977640" cy="226771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11480" y="1554480"/>
            <a:ext cx="3977640" cy="329184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12064" y="1554480"/>
            <a:ext cx="3785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Origem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30352" y="1938528"/>
            <a:ext cx="374904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Criado por Simon Brown a partir de 2010 como resposta à proliferação de notações complexas (UML, ArchiMate) que exigiam treinamento especializado para serem lidas.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Publicado no livro 'The C4 Model for Visualising Software Architecture' (Leanpub, 2018). Disponível gratuitamente em c4model.com.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26280" y="1554480"/>
            <a:ext cx="4206240" cy="226771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526280" y="1554480"/>
            <a:ext cx="4206240" cy="32918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626864" y="1554480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 que resolve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645152" y="1938528"/>
            <a:ext cx="3986784" cy="184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Assim como o Google Maps tem zoom (país → cidade → rua → edifício), o C4 oferece 4 níveis de abstração.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nível é produzido para um público diferente com uma pergunta diferente em mente — não há 'diagrama universal'.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notação é minimalista por design: caixas, setas e texto. Sem símbolos especiais para aprender.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11480" y="387705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 4 níveis: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11480" y="4151376"/>
            <a:ext cx="1938528" cy="6583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11480" y="4151376"/>
            <a:ext cx="1938528" cy="256032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84632" y="4151376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L1 —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84632" y="4425696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CEO / 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514600" y="4151376"/>
            <a:ext cx="1938528" cy="6583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2514600" y="4151376"/>
            <a:ext cx="1938528" cy="2560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2587752" y="4151376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L2 —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587752" y="4425696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 / DevOps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617720" y="4151376"/>
            <a:ext cx="1938528" cy="6583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617720" y="4151376"/>
            <a:ext cx="1938528" cy="25603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690872" y="4151376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L3 — Component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690872" y="4425696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 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720840" y="4151376"/>
            <a:ext cx="1938528" cy="65836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720840" y="4151376"/>
            <a:ext cx="1938528" cy="25603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793992" y="4151376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L4 —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793992" y="4425696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 impl.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11480" y="5040384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The C4 Model for Visualising Software Architecture. Leanpub / c4model.com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1f4f215ea_1_0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1f4f215ea_1_0"/>
          <p:cNvSpPr/>
          <p:nvPr/>
        </p:nvSpPr>
        <p:spPr>
          <a:xfrm>
            <a:off x="0" y="5052050"/>
            <a:ext cx="9144000" cy="91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1f4f215ea_1_0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Model — O que é?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1f4f215ea_1_0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1f4f215ea_1_0"/>
          <p:cNvSpPr/>
          <p:nvPr/>
        </p:nvSpPr>
        <p:spPr>
          <a:xfrm>
            <a:off x="411480" y="5040384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The C4 Model for Visualising Software Architecture. Leanpub / c4model.com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d1f4f215ea_1_0" title="c4-static.png"/>
          <p:cNvPicPr preferRelativeResize="0"/>
          <p:nvPr/>
        </p:nvPicPr>
        <p:blipFill rotWithShape="1">
          <a:blip r:embed="rId3">
            <a:alphaModFix/>
          </a:blip>
          <a:srcRect b="0" l="1996" r="5574" t="4462"/>
          <a:stretch/>
        </p:blipFill>
        <p:spPr>
          <a:xfrm>
            <a:off x="973675" y="728448"/>
            <a:ext cx="7164475" cy="416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L1: Context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zoom mais distante — o sistema e quem interage com ele, sem detalhes técnicos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11480" y="987552"/>
            <a:ext cx="3749040" cy="39136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11480" y="987552"/>
            <a:ext cx="3749040" cy="329184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12064" y="987552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Características do L1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30352" y="138988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Público-alvo: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30352" y="160934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CEO, PO, stakeholders de negócio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30352" y="195681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Pergunta: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30352" y="2176272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'O que faz e com quem se comunica?'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30352" y="252374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Tecnologia: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30352" y="2743200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Não aparece — propositalmente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30352" y="309067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Elementos: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30352" y="3310128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Pessoas + Sistema central + Sistemas externos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30352" y="365760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Detalhe: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30352" y="3877056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Zero — só o essencial para a conversa estratégica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30352" y="422452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Frequência: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30352" y="444398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Atualizado a cada mudança de integração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297680" y="987552"/>
            <a:ext cx="4434840" cy="39136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4297680" y="987552"/>
            <a:ext cx="4434840" cy="32918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407408" y="987552"/>
            <a:ext cx="42245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Exemplo visual — </a:t>
            </a: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 Banking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11480" y="5052786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1: System Context Diagram. c4model.com/#SystemContext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 title="SystemContext.png"/>
          <p:cNvPicPr preferRelativeResize="0"/>
          <p:nvPr/>
        </p:nvPicPr>
        <p:blipFill rotWithShape="1">
          <a:blip r:embed="rId3">
            <a:alphaModFix/>
          </a:blip>
          <a:srcRect b="8391" l="0" r="0" t="0"/>
          <a:stretch/>
        </p:blipFill>
        <p:spPr>
          <a:xfrm>
            <a:off x="4302250" y="1356350"/>
            <a:ext cx="4434851" cy="354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1f4f215ea_1_4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1f4f215ea_1_43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1f4f215ea_1_43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L1: Context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d1f4f215ea_1_43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1f4f215ea_1_43"/>
          <p:cNvSpPr/>
          <p:nvPr/>
        </p:nvSpPr>
        <p:spPr>
          <a:xfrm>
            <a:off x="411480" y="5052786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1: System Context Diagram. c4model.com/#SystemContext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d1f4f215ea_1_43" title="SystemCon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925" y="685625"/>
            <a:ext cx="5188700" cy="4293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L2: Container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zoom a mais — quais são as peças que compõem o sistema e como se comunicam?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11480" y="987552"/>
            <a:ext cx="3749040" cy="39136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411480" y="987552"/>
            <a:ext cx="3749040" cy="32918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12064" y="987552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Características do L2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30352" y="138988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Público-alvo: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30352" y="160934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Dev, arquiteto, DevOps, SRE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30352" y="19568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Pergunta: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30352" y="2176272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'De quais processos o sistema é composto?'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30352" y="252374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Container: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30352" y="2743200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 app, API, worker, banco, fila — qualquer processo que roda separado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30352" y="309067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Tecnologia: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30352" y="3310128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Aparece aqui: Node.js, Postgres, RabbitMQ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30352" y="36576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Comunicação: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30352" y="3877056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Protocolo explícito: HTTPS, gRPC, AMQP,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30352" y="422452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Um por sistema: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30352" y="444398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Geralmente 1 diagrama por software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297680" y="987552"/>
            <a:ext cx="4434840" cy="39136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4297680" y="987552"/>
            <a:ext cx="4434840" cy="32918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407408" y="987552"/>
            <a:ext cx="42245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L2 — Internet Banking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2: Container Diagram. c4model.com/#Container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9" title="Containers.png"/>
          <p:cNvPicPr preferRelativeResize="0"/>
          <p:nvPr/>
        </p:nvPicPr>
        <p:blipFill rotWithShape="1">
          <a:blip r:embed="rId3">
            <a:alphaModFix/>
          </a:blip>
          <a:srcRect b="4812" l="0" r="0" t="1940"/>
          <a:stretch/>
        </p:blipFill>
        <p:spPr>
          <a:xfrm>
            <a:off x="4489175" y="1371405"/>
            <a:ext cx="3977277" cy="3511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1f4f215ea_1_7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1f4f215ea_1_73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1f4f215ea_1_73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L2: Container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d1f4f215ea_1_73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1f4f215ea_1_73"/>
          <p:cNvSpPr/>
          <p:nvPr/>
        </p:nvSpPr>
        <p:spPr>
          <a:xfrm>
            <a:off x="411480" y="5038160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2: Container Diagram. c4model.com/#Container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g3d1f4f215ea_1_73" title="Containers.png"/>
          <p:cNvPicPr preferRelativeResize="0"/>
          <p:nvPr/>
        </p:nvPicPr>
        <p:blipFill rotWithShape="1">
          <a:blip r:embed="rId3">
            <a:alphaModFix/>
          </a:blip>
          <a:srcRect b="0" l="0" r="0" t="2028"/>
          <a:stretch/>
        </p:blipFill>
        <p:spPr>
          <a:xfrm>
            <a:off x="2221625" y="743575"/>
            <a:ext cx="4547794" cy="4218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L3: Component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Abrindo um container — como ele está organizado internamente em componentes?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11480" y="987552"/>
            <a:ext cx="3749040" cy="39136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11480" y="987552"/>
            <a:ext cx="3749040" cy="32918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512064" y="987552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Características do L3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30352" y="138988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Público-alvo: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30352" y="160934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Desenvolvedor que vai trabalhar no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30352" y="19568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Pergunta: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30352" y="2176272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'Como o container está organizado internamente?'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30352" y="252374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Componente: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30352" y="2743200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Controllers, Services, Repos, Validators, Publishers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30352" y="309067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Responsabilidade: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530352" y="3310128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componente tem uma responsabilidade única (SRP)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30352" y="36576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Frequência: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30352" y="3877056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por container relevante — não para todos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30352" y="422452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Cuidado: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530352" y="4443984"/>
            <a:ext cx="3529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Desatualiza rápido — mantenha simples ou automatize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297680" y="987552"/>
            <a:ext cx="4434840" cy="39136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4297680" y="987552"/>
            <a:ext cx="4434840" cy="32918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407408" y="987552"/>
            <a:ext cx="42245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L3 — </a:t>
            </a: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 Banking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11480" y="5038160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3: Component Diagram. c4model.com/#Component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0" title="Components.png"/>
          <p:cNvPicPr preferRelativeResize="0"/>
          <p:nvPr/>
        </p:nvPicPr>
        <p:blipFill rotWithShape="1">
          <a:blip r:embed="rId3">
            <a:alphaModFix/>
          </a:blip>
          <a:srcRect b="3669" l="2073" r="2407" t="1768"/>
          <a:stretch/>
        </p:blipFill>
        <p:spPr>
          <a:xfrm>
            <a:off x="4297675" y="1610838"/>
            <a:ext cx="4395274" cy="305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1f4f215ea_1_10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d1f4f215ea_1_103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d1f4f215ea_1_103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L3: Component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1f4f215ea_1_103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d1f4f215ea_1_103"/>
          <p:cNvSpPr/>
          <p:nvPr/>
        </p:nvSpPr>
        <p:spPr>
          <a:xfrm>
            <a:off x="411480" y="5038160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3: Component Diagram. c4model.com/#Component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g3d1f4f215ea_1_103" title="Compone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375" y="667375"/>
            <a:ext cx="6233518" cy="43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L4: Code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zoom mais próximo — classes, interfaces, funções. E por que raramente deve ser feito à mão.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'O L4 raramente é útil. Se você precisa dele, use uma ferramenta que o gere automaticamente do código-fonte.' — Simon Brown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411480" y="1572768"/>
            <a:ext cx="4160520" cy="14630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411480" y="1572768"/>
            <a:ext cx="4160520" cy="3108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502920" y="1572768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é o L4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21208" y="1938528"/>
            <a:ext cx="39319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Representa a implementação interna de um componente: classes, interfaces, herança, composição, funções. É o nível mais próximo do código-fonte.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754880" y="1572768"/>
            <a:ext cx="4160520" cy="14630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4754880" y="1572768"/>
            <a:ext cx="4160520" cy="310896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4846320" y="1572768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raramente vale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864608" y="1938528"/>
            <a:ext cx="39319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código muda constantemente. Um diagrama de classe feito manualmente fica desatualizado no próximo PR. O esforço de manutenção raramente compensa.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11480" y="3200400"/>
            <a:ext cx="4160520" cy="14630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411480" y="3200400"/>
            <a:ext cx="4160520" cy="3108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502920" y="3200400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Quando faz sentido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521208" y="3566160"/>
            <a:ext cx="39319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 algoritmos complexos, padrões de projeto que precisam ser comunicados ao time, ou durante a fase de design inicial de um componente crítico.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754880" y="3200400"/>
            <a:ext cx="4160520" cy="14630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4754880" y="3200400"/>
            <a:ext cx="4160520" cy="310896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4846320" y="3200400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Como fazer corretamente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864608" y="3566160"/>
            <a:ext cx="39319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ferramentas que geram do código: PlantUML integrado ao build, Mermaid com classDiagram gerado via reflection, ou IDEs com exportação UML.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11480" y="5042639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4: Code. c4model.com/#Code  |  Fowler, M. (2004). UML Distilled. Addison-Wesley.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1f4f215ea_1_13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d1f4f215ea_1_133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d1f4f215ea_1_133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🗺️  C4 — L4: Code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d1f4f215ea_1_133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d1f4f215ea_1_133"/>
          <p:cNvSpPr/>
          <p:nvPr/>
        </p:nvSpPr>
        <p:spPr>
          <a:xfrm>
            <a:off x="411480" y="5042639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(2018). C4 Model — Level 4: Code. c4model.com/#Code  |  Fowler, M. (2004). UML Distilled. Addison-Wesley.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g3d1f4f215ea_1_133" title="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525" y="640075"/>
            <a:ext cx="3469703" cy="429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📝  ADR — O que é e por que usar?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Architectural Decision Records — registrar o porquê de decisões técnicas para o time do futuro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'Um ADR não é burocracia. É uma carta para o time do futuro explicando o contexto que vocês tinham quando tomaram a decisão.' — Michael Nygard, 2011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411480" y="1572768"/>
            <a:ext cx="3977640" cy="32918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411480" y="1572768"/>
            <a:ext cx="3977640" cy="32918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512064" y="1572768"/>
            <a:ext cx="3785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Origem e propósito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530352" y="1956816"/>
            <a:ext cx="374904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0"/>
              <a:buFont typeface="Calibri"/>
              <a:buNone/>
            </a:pPr>
            <a:r>
              <a:rPr b="0" i="0" lang="en-US" sz="13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Proposto por Michael T. Nygard no artigo 'Documenting Architecture Decisions' (2011) no blog Cognitect.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Calibri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0"/>
              <a:buFont typeface="Calibri"/>
              <a:buNone/>
            </a:pPr>
            <a:r>
              <a:rPr b="0" i="0" lang="en-US" sz="13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ideia central: capturar o contexto de uma decisão é mais valioso que capturar a decisão em si.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Calibri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0"/>
              <a:buFont typeface="Calibri"/>
              <a:buNone/>
            </a:pPr>
            <a:r>
              <a:rPr b="0" i="0" lang="en-US" sz="13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formato MADR (Markdown ADR) foi padronizado por Olaf Zimmermann et al. (2020) como uma versão leve e diretamente utilizável em repositórios Git.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Calibri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0"/>
              <a:buFont typeface="Calibri"/>
              <a:buNone/>
            </a:pPr>
            <a:r>
              <a:rPr b="0" i="0" lang="en-US" sz="13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Empresas como Nubank, Spotify e ThoughtWorks adotam ADRs como parte obrigatória do processo de engenharia.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4526280" y="1572768"/>
            <a:ext cx="4206240" cy="329184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4526280" y="1572768"/>
            <a:ext cx="4206240" cy="32918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4626864" y="1572768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Benefícios concretos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4645152" y="1956816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🧭  Onboarding acelerado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4645152" y="2231136"/>
            <a:ext cx="3986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Novos engenheiros entendem o sistema lendo os ADRs — não perguntando para quem já saiu.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645152" y="2724912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🔁  Fim das rediscussões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4645152" y="2999232"/>
            <a:ext cx="3986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'Já discutimos isso. Veja o ADR-012.' Economiza horas de reunião.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645152" y="3493008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⚖️  Trade-offs explícitos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4645152" y="3767328"/>
            <a:ext cx="3986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decisão inclui o que foi sacrificado. O time aceita conscientemente.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645152" y="426110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📊  Base para revisão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645152" y="4535424"/>
            <a:ext cx="3986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1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Quando o contexto muda, revise o ADR. Não porque é obrigatório, mas porque faz sentido.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11480" y="5055009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Nygard, M.T. (2011). Documenting Architecture Decisions. cognitect.com/blog  |  Zimmermann, O. et al. (2020). MADR. adr.github.io/madr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📝  ADR — Estrutura MADR (Markdown Any Decision Records)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Cinco seções que capturam tudo que o time do futuro precisa saber sobre uma decisão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11480" y="1005840"/>
            <a:ext cx="8321040" cy="67665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411480" y="1005840"/>
            <a:ext cx="402336" cy="67665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411480" y="1005840"/>
            <a:ext cx="40233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914400" y="1060704"/>
            <a:ext cx="7699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Título + Status + Metadados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914400" y="1335024"/>
            <a:ext cx="7699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Título no formato 'ADR-NNN: Verbo + substantivo'. Status: Proposto → Aceito → Depreciado → Substituído. Data e autores são obrigatórios para rastreabilidade temporal.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411480" y="1773936"/>
            <a:ext cx="8321040" cy="67665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411480" y="1773936"/>
            <a:ext cx="402336" cy="676656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411480" y="1773936"/>
            <a:ext cx="40233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914400" y="1828800"/>
            <a:ext cx="7699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914400" y="2103120"/>
            <a:ext cx="7699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Descreve a situação que FORÇOU a decisão: pressão técnica, restrição de negócio, volume de dados, prazo. Neutro — sem julgamento. Responde: 'Por que tivemos que decidir isso agora?'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411480" y="2542032"/>
            <a:ext cx="8321040" cy="67665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411480" y="2542032"/>
            <a:ext cx="402336" cy="676656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411480" y="2542032"/>
            <a:ext cx="40233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914400" y="2596896"/>
            <a:ext cx="7699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Decisão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14400" y="2871216"/>
            <a:ext cx="7699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Uma frase afirmativa clara: 'Adotaremos PostgreSQL como banco principal para pedidos.' Sem ambiguidade. Quem ler deve saber exatamente o que foi escolhido.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411480" y="3310128"/>
            <a:ext cx="8321040" cy="67665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411480" y="3310128"/>
            <a:ext cx="402336" cy="67665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411480" y="3310128"/>
            <a:ext cx="40233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914400" y="3364992"/>
            <a:ext cx="7699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Consequências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914400" y="3639312"/>
            <a:ext cx="7699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(+) O que fica mais fácil com essa decisão?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(-) O que fica mais difícil ou qual o custo aceito?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Essas consequências são o compromisso do time — não surpresas futuras.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411480" y="4078224"/>
            <a:ext cx="8321040" cy="67665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411480" y="4078224"/>
            <a:ext cx="402336" cy="67665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411480" y="4078224"/>
            <a:ext cx="40233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914400" y="4133088"/>
            <a:ext cx="7699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Alternativas rejeitadas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914400" y="4407408"/>
            <a:ext cx="7699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80"/>
              <a:buFont typeface="Calibri"/>
              <a:buNone/>
            </a:pPr>
            <a:r>
              <a:rPr b="0" i="0" lang="en-US" sz="10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Qual opção B foi considerada e por quê foi descartada? Esta seção é a mais negligenciada e a mais valiosa — evita que o time de amanhã refaça a análise do zero.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411480" y="5042639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Zimmermann, O. et al. (2020). MADR Template v3.0. github.com/adr/madr  |  Keeling, M. (2017). Design It! Cap. 12. Pragmatic Bookshelf.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📝  ADR na Prática — ADR-003 Completo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Lendo um ADR real: PostgreSQL vs MongoDB para o sistema de delivery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411480" y="987552"/>
            <a:ext cx="8321040" cy="41330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9" name="Google Shape;489;p16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0" name="Google Shape;490;p16"/>
          <p:cNvSpPr/>
          <p:nvPr/>
        </p:nvSpPr>
        <p:spPr>
          <a:xfrm>
            <a:off x="521208" y="987552"/>
            <a:ext cx="8101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b="1" i="0" lang="en-US" sz="1350" u="none" cap="none" strike="noStrike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docs/adr/ADR-003-banco-pedidos.md</a:t>
            </a:r>
            <a:endParaRPr b="0" i="0" sz="13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539496" y="1298448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# ADR-003: Usar PostgreSQL para armazenar pedidos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539496" y="1440180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**Status:** Aceito  |  **Data:** 2024-03-15  |  **Autores:** Time Backend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539496" y="1581912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539496" y="1723644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3A7BD5"/>
                </a:solidFill>
                <a:latin typeface="Consolas"/>
                <a:ea typeface="Consolas"/>
                <a:cs typeface="Consolas"/>
                <a:sym typeface="Consolas"/>
              </a:rPr>
              <a:t>## Contexto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539496" y="1865376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10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O DeliveryApp armazena pedidos com relações complexas: usuário → pedido → itens → restaurante → pagamento.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539496" y="2007108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10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Precisamos de consistência forte — pedido não pode existir sem pagamento válido. Volume atual: 5k pedidos/hora.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539496" y="2148840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539496" y="2290572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3A7BD5"/>
                </a:solidFill>
                <a:latin typeface="Consolas"/>
                <a:ea typeface="Consolas"/>
                <a:cs typeface="Consolas"/>
                <a:sym typeface="Consolas"/>
              </a:rPr>
              <a:t>## Decisão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39496" y="2432304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Adotaremos PostgreSQL como banco principal para pedidos.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39496" y="2574036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539496" y="2715768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3A7BD5"/>
                </a:solidFill>
                <a:latin typeface="Consolas"/>
                <a:ea typeface="Consolas"/>
                <a:cs typeface="Consolas"/>
                <a:sym typeface="Consolas"/>
              </a:rPr>
              <a:t>## Consequências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39496" y="2857500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(+) ACID completo — pedido e pagamento em uma única transação atômica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39496" y="2999232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(+) Time já conhece — onboarding zero, sem curva de aprendizado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539496" y="3140964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(+) JOINs nativos facilitam queries de histórico do usuário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539496" y="3282696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(-) Escala horizontal mais complexa — requer read replicas acima de 100k pedidos/hora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39496" y="3424428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(-) Schema rígido — mudanças de campo exigem migration planejada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39496" y="3566160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39496" y="3707892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3A7BD5"/>
                </a:solidFill>
                <a:latin typeface="Consolas"/>
                <a:ea typeface="Consolas"/>
                <a:cs typeface="Consolas"/>
                <a:sym typeface="Consolas"/>
              </a:rPr>
              <a:t>## Alternativas rejeitadas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539496" y="3849624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 MongaoDB: schema flexível, mas sem ACID multi-documento confiável para pedidos financeiros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39496" y="3991356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 DynamoDB: escala excelente, mas vendor lock-in AWS e curva de aprendizado alta para o time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539496" y="4133088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539496" y="4274820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rgbClr val="3A7BD5"/>
                </a:solidFill>
                <a:latin typeface="Consolas"/>
                <a:ea typeface="Consolas"/>
                <a:cs typeface="Consolas"/>
                <a:sym typeface="Consolas"/>
              </a:rPr>
              <a:t>## Links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539496" y="4416552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 Substitui: ADR-001 (SQLite para o protótipo inicial)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539496" y="4558284"/>
            <a:ext cx="80650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12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 PoC de benchmark: /docs/poc/postgres-mongo-bench-2024-03.md</a:t>
            </a:r>
            <a:endParaRPr b="0" i="0" sz="122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Zimmermann, O. et al. (2020). MADR. adr.github.io/madr  |  Kleppmann, M. (2017). Designing Data-Intensive Applications. O'Reilly. Cap. 2.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👁️  Visões 4+1 — Conceito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Philippe Kruchten, 1995 — não existe 'a arquitetura do sistema', existem perspectivas diferentes do mesmo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'Toda arquitetura pode ser descrita por cinco visões concorrentes. Cada visão endereça um conjunto específico de preocupações.' — Philippe Kruchten, 1995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411480" y="1554480"/>
            <a:ext cx="3977640" cy="327355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411480" y="1554480"/>
            <a:ext cx="3977640" cy="32918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512064" y="1554480"/>
            <a:ext cx="3785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Origem e 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30352" y="1938528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Publicado por Philippe Kruchten no artigo 'The 4+1 View Model of Architecture' no IEEE Software, novembro de 1995.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modelo surgiu da observação de que diferentes stakeholders fazem perguntas diferentes sobre o mesmo sistema — e diagramas únicos não conseguem responder todas ao mesmo tempo.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mesma ideia inspirou o C4 Model décadas depois. Ambos compartilham o princípio de 'diferentes visões para diferentes públicos'.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Amplo uso na indústria: IEEE Std 1471-2000 e ISO/IEC/IEEE 42010:2011 formalizam a abordagem de múltiplas visões arquiteturais.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4526280" y="1554480"/>
            <a:ext cx="4206240" cy="327355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4526280" y="1554480"/>
            <a:ext cx="4206240" cy="32918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4626864" y="1554480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4+1 e não 4?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4645152" y="1938528"/>
            <a:ext cx="3986784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'+1' são os Cenários — casos de uso que atravessam todas as quatro visões.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Eles servem como o elemento que unifica o modelo: um cenário de 'usuário faz pedido' toca a visão lógica (quais classes participam?), a de processo (qual thread executa?), a física (em qual servidor?) e a de desenvolvimento (em qual módulo fica o código?).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Os cenários são a prova de que as visões são consistentes entre si — se uma visão não suporta um cenário, há uma lacuna arquitetural.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 prática: use cenários de teste como os '+1' — eles já existem no seu backlog.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329180" y="5058911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Kruchten, P. (1995). The 4+1 View Model of Architecture. IEEE Software, 12(6), pp. 42-50.  |  ISO/IEC/IEEE 42010:2011.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0" y="5038150"/>
            <a:ext cx="9144000" cy="105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👁️  As 4 Visões + Cenários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visão responde um conjunto específico de perguntas para um público diferente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411480" y="1005840"/>
            <a:ext cx="4160520" cy="177393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411480" y="1005840"/>
            <a:ext cx="4160520" cy="347472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502920" y="10058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🧩  Visão Lógica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3246120" y="100584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Dev / Analista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521208" y="1408176"/>
            <a:ext cx="393192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que: Organização funcional do sistema.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Responde: Como a lógica está estruturada em classes, módulos e pacotes?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Artefatos: Diagramas de classe, pacote e sequência (UML).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4754880" y="1005840"/>
            <a:ext cx="4160520" cy="177393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4754880" y="1005840"/>
            <a:ext cx="4160520" cy="34747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4846320" y="10058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⚙️  Visão de Processo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7589520" y="100584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Dev / Arquiteto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4864608" y="1408176"/>
            <a:ext cx="393192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que: Comportamento em tempo de execução.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Responde: Como os processos se comunicam? Onde há concorrência e sincronização?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Artefatos: Diagramas de atividade, sequência com threads, state machines.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411480" y="2944368"/>
            <a:ext cx="4160520" cy="177393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411480" y="2944368"/>
            <a:ext cx="4160520" cy="34747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502920" y="29443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🖥️  Visão Física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3246120" y="294436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DevOps / SRE / Infra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521208" y="3346704"/>
            <a:ext cx="393192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que: Mapeamento software → hardware.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Responde: Em quais máquinas roda? Como os processos são distribuídos?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Artefatos: Diagrama de deployment (UML), topologia de rede.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4754880" y="2944368"/>
            <a:ext cx="4160520" cy="177393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4754880" y="2944368"/>
            <a:ext cx="4160520" cy="34747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4846320" y="29443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📁  Visão de Desenvolvimento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7589520" y="294436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Dev / Tech Lead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4864608" y="3346704"/>
            <a:ext cx="393192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que: Organização do código-fonte.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Responde: Como o código está dividido em módulos, libs e repositórios?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Artefatos: Diagrama de componentes, estrutura de pacotes, dependências.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3474720" y="2304288"/>
            <a:ext cx="2194560" cy="731520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3560138" y="2295150"/>
            <a:ext cx="202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+1  Cenários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3560063" y="2660924"/>
            <a:ext cx="202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Casos de uso que validam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 unem as 4 visões.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411480" y="5038160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Kruchten, P. (1995). The 4+1 View Model of Architecture. IEEE Software, 12(6).  |  Rozanski, N., Woods, E. (2011). Software Systems Architecture. Addison-Wesley.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967eed8c4e_0_0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967eed8c4e_0_0"/>
          <p:cNvSpPr/>
          <p:nvPr/>
        </p:nvSpPr>
        <p:spPr>
          <a:xfrm>
            <a:off x="0" y="5038150"/>
            <a:ext cx="9144000" cy="105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967eed8c4e_0_0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👁️  As 4 Visões + Cenários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967eed8c4e_0_0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967eed8c4e_0_0"/>
          <p:cNvSpPr/>
          <p:nvPr/>
        </p:nvSpPr>
        <p:spPr>
          <a:xfrm>
            <a:off x="411480" y="5038160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Kruchten, P. (1995). The 4+1 View Model of Architecture. IEEE Software, 12(6).  |  Rozanski, N., Woods, E. (2011). Software Systems Architecture. Addison-Wesley.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g3967eed8c4e_0_0" title="Screenshot 2026-03-25 1911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75" y="797005"/>
            <a:ext cx="5409506" cy="4065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9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💻  Docs-as-Code — Documentação Versionada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Tratar documentação como código: no Git, revisada em PR, validada no CI, publicada automaticamente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411480" y="987552"/>
            <a:ext cx="8321040" cy="493776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411480" y="987552"/>
            <a:ext cx="64008" cy="49377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566928" y="987552"/>
            <a:ext cx="8083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'Se a documentação não está no Git, ela não existe para o time. Docs-as-Code garante que doc e código envelhecem juntos.' — Anne Gentle, 2017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411480" y="155448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de documentação: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411480" y="1847088"/>
            <a:ext cx="1572768" cy="74980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411480" y="1847088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Escreve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.md / .dsl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1993392" y="2066544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2130552" y="1847088"/>
            <a:ext cx="1572768" cy="749808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2130552" y="1847088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push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PR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3712464" y="2066544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3849624" y="1847088"/>
            <a:ext cx="1572768" cy="7498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3849624" y="1847088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CI: valida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links/DSL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5431536" y="2066544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5568696" y="1847088"/>
            <a:ext cx="1572768" cy="7498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5568696" y="1847088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HTML/PDF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7150608" y="2066544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7287768" y="1847088"/>
            <a:ext cx="1572768" cy="7498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7287768" y="1847088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Portal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411480" y="2761488"/>
            <a:ext cx="2670048" cy="20848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9"/>
          <p:cNvSpPr/>
          <p:nvPr/>
        </p:nvSpPr>
        <p:spPr>
          <a:xfrm>
            <a:off x="411480" y="2761488"/>
            <a:ext cx="2670048" cy="310896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484632" y="276148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Mermaid / PlantUML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502920" y="3127248"/>
            <a:ext cx="248716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Diagramas em texto puro, versionados no Git e renderizados automaticamente no GitHub/GitLab. Ideal para fluxos, sequências e diagramas 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Ex: ```mermaid graph LR A--&gt;B```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3246120" y="2761488"/>
            <a:ext cx="2670048" cy="20848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3246120" y="2761488"/>
            <a:ext cx="2670048" cy="310896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9"/>
          <p:cNvSpPr/>
          <p:nvPr/>
        </p:nvSpPr>
        <p:spPr>
          <a:xfrm>
            <a:off x="3319272" y="276148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Structurizr DSL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3337560" y="3127248"/>
            <a:ext cx="248716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C4 Model como código. workspace.dsl no repositório, render via Docker local ou Structurizr Cloud. Validação automática de sintaxe no CI.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Gratuito via structurizr/lite no Docker Hub.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6080760" y="2761488"/>
            <a:ext cx="2670048" cy="2084832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6080760" y="2761488"/>
            <a:ext cx="2670048" cy="3108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6153912" y="276148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ADR + MkDocs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6172200" y="3127248"/>
            <a:ext cx="248716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ADRs em Markdown em /docs/adr/. MkDocs gera site de documentação navegável. CI com mkdocs gh-deploy publica no GitHub Pages automaticamente.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411480" y="5054582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Gentle, A. (2017). Docs Like Code. Lulu Press.  |  Brown, S. (2022). Structurizr Lite. github.com/structurizr/lite  |  mkdocs.org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968aa6e942_0_0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968aa6e942_0_0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968aa6e942_0_0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💻  Docs-as-Code — Documentação Versionada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968aa6e942_0_0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968aa6e942_0_0"/>
          <p:cNvSpPr/>
          <p:nvPr/>
        </p:nvSpPr>
        <p:spPr>
          <a:xfrm>
            <a:off x="411480" y="5054582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Gentle, A. (2017). Docs Like Code. Lulu Press.  |  Brown, S. (2022). Structurizr Lite. github.com/structurizr/lite  |  mkdocs.org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g3968aa6e942_0_0" title="JN6AwL82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50" y="825380"/>
            <a:ext cx="7030328" cy="4082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0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💻  Structurizr DSL — C4 como Código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0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workspace.dsl: o C4 inteiro em um arquivo de texto, versionado, validado e renderizado automaticamente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411480" y="987552"/>
            <a:ext cx="5084064" cy="41330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0"/>
          <p:cNvSpPr/>
          <p:nvPr/>
        </p:nvSpPr>
        <p:spPr>
          <a:xfrm>
            <a:off x="411480" y="987552"/>
            <a:ext cx="5084064" cy="2743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521208" y="987552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workspace.dsl — DeliveryApp completo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539496" y="1298448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workspace "DeliveryApp" "Sistema de delivery" {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539496" y="1440180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model {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539496" y="1581912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  # Pessoas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539496" y="1723644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user = person "Usuário" "Faz pedidos via mobile"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539496" y="1865376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539496" y="2007108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  # Software System (fronteira do L2)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539496" y="2148840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delivery = softwareSystem "DeliveryApp" {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539496" y="2290572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  webapp = container "React Native" "" "TypeScript"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539496" y="2432304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  api    = container "API Gateway" "" "Node.js"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539496" y="2574036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  orders = container "Order Service" "" "Python"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539496" y="2715768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db     = container "PostgreSQL" "" "Database"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539496" y="2857500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queue  = container "RabbitMQ" "" "Broker"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539496" y="2999232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539496" y="3140964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  pagto = softwareSystem "Gateway Pagamento"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539496" y="3282696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alibri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539496" y="3424428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    # Relacionamentos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539496" y="3566160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    user   -&gt; webapp  "Faz pedido via"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539496" y="3707892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    webapp -&gt; api     "Chama" "HTTPS/JSON"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539496" y="3849624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    api    -&gt; orders  "Roteia" "gRPC"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539496" y="3991356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    orders -&gt; db      "Lê/Grava" "SQL"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539496" y="4133088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    orders -&gt; queue   "Publica evento" "AMQP"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539496" y="4274820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539496" y="4416552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views {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539496" y="4558284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    systemContext delivery "Ctx" { include * }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539496" y="4700016"/>
            <a:ext cx="48280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05A28"/>
                </a:solidFill>
                <a:latin typeface="Consolas"/>
                <a:ea typeface="Consolas"/>
                <a:cs typeface="Consolas"/>
                <a:sym typeface="Consolas"/>
              </a:rPr>
              <a:t>    container delivery "Containers" { include * }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539496" y="4906918"/>
            <a:ext cx="482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20"/>
              <a:buFont typeface="Consolas"/>
              <a:buNone/>
            </a:pPr>
            <a:r>
              <a:rPr b="0" i="0" lang="en-US" sz="82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5623560" y="987552"/>
            <a:ext cx="3108960" cy="4133088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0"/>
          <p:cNvSpPr/>
          <p:nvPr/>
        </p:nvSpPr>
        <p:spPr>
          <a:xfrm>
            <a:off x="5623560" y="987552"/>
            <a:ext cx="3108960" cy="3108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0"/>
          <p:cNvSpPr/>
          <p:nvPr/>
        </p:nvSpPr>
        <p:spPr>
          <a:xfrm>
            <a:off x="5724144" y="98755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Como Rodar Localmente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5724144" y="1353312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1. Docker (gratuito):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5724144" y="157276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docker run -it --rm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-p 8080:8080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-v $(pwd):/usr/local/structurizr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structurizr/lite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5724144" y="2121408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2. Acessa em: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5724144" y="2340864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http://localhost:8080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5724144" y="2889504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3. Edita o .dsl: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5724144" y="3108960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auto-refresh no browser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5724144" y="3657600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4. Exporta: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5724144" y="3877056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Menu → Export → SVG / PNG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0"/>
          <p:cNvSpPr/>
          <p:nvPr/>
        </p:nvSpPr>
        <p:spPr>
          <a:xfrm>
            <a:off x="5724144" y="4425696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5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5A28"/>
                </a:solidFill>
                <a:latin typeface="Calibri"/>
                <a:ea typeface="Calibri"/>
                <a:cs typeface="Calibri"/>
                <a:sym typeface="Calibri"/>
              </a:rPr>
              <a:t>5. Versiona: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5724144" y="4645152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add workspace.dsl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commit -m 'docs: update C4'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0"/>
          <p:cNvSpPr/>
          <p:nvPr/>
        </p:nvSpPr>
        <p:spPr>
          <a:xfrm>
            <a:off x="0" y="5052000"/>
            <a:ext cx="9144000" cy="91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0"/>
          <p:cNvSpPr/>
          <p:nvPr/>
        </p:nvSpPr>
        <p:spPr>
          <a:xfrm>
            <a:off x="5" y="5065761"/>
            <a:ext cx="83211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Brown, S. (2022). Structurizr DSL Language Reference. docs.structurizr.com/dsl  |  hub.docker.com/r/structurizr/lite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2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📚  Referências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411480" y="640080"/>
            <a:ext cx="8321040" cy="274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 a bibliografia citada nesta unidade — livros, artigos e recursos online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512064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Livros Fundamentais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512064" y="12801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Brown, S. (2018). The C4 Model for Visualising Software Architecture. Leanpub. Disponível em: c4model.com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512064" y="153619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Fowler, M. (2002). Patterns of Enterprise Application Architecture. Addison-Wesley.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512064" y="17922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Rozanski, N. &amp; Woods, E. (2011). Software Systems Architecture, 2ª ed. Addison-Wesley.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512064" y="2048256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Keeling, M. (2017). Design It! — From Programmer to Software Architect. Pragmatic Bookshelf.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512064" y="230428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Kleppmann, M. (2017). Designing Data-Intensive Applications. O'Reilly Media.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411480" y="2633472"/>
            <a:ext cx="8321040" cy="256032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512064" y="26334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Artigos e Papers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512064" y="290779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Kruchten, P. (1995). The 4+1 View Model of Architecture. IEEE Software, 12(6), pp. 42–50.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512064" y="31638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Nygard, M.T. (2011). Documenting Architecture Decisions. Cognitect Blog. cognitect.com/blog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2"/>
          <p:cNvSpPr/>
          <p:nvPr/>
        </p:nvSpPr>
        <p:spPr>
          <a:xfrm>
            <a:off x="512064" y="3419856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Zimmermann, O. et al. (2020). MADR — Markdown Any Decision Records, v3.0. adr.github.io/madr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2"/>
          <p:cNvSpPr/>
          <p:nvPr/>
        </p:nvSpPr>
        <p:spPr>
          <a:xfrm>
            <a:off x="512064" y="367588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Bass, L., Clements, P. &amp; Kazman, R. (2021). Software Architecture in Practice, 4ª ed. Addison-Wesley.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411480" y="4005072"/>
            <a:ext cx="8321040" cy="256032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2"/>
          <p:cNvSpPr/>
          <p:nvPr/>
        </p:nvSpPr>
        <p:spPr>
          <a:xfrm>
            <a:off x="512064" y="40050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Normas e Padrões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2"/>
          <p:cNvSpPr/>
          <p:nvPr/>
        </p:nvSpPr>
        <p:spPr>
          <a:xfrm>
            <a:off x="512064" y="427939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ISO/IEC/IEEE 42010:2011 — Systems and Software Engineering: Architecture Description.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512064" y="45354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IEEE Std 1016-2009 — IEEE Standard for Information Technology — Software Design Descriptions.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d1f4f215ea_1_16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d1f4f215ea_1_163"/>
          <p:cNvSpPr/>
          <p:nvPr/>
        </p:nvSpPr>
        <p:spPr>
          <a:xfrm>
            <a:off x="0" y="5065776"/>
            <a:ext cx="9144000" cy="777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d1f4f215ea_1_163"/>
          <p:cNvSpPr/>
          <p:nvPr/>
        </p:nvSpPr>
        <p:spPr>
          <a:xfrm>
            <a:off x="411480" y="128016"/>
            <a:ext cx="832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📚  Referências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d1f4f215ea_1_163"/>
          <p:cNvSpPr/>
          <p:nvPr/>
        </p:nvSpPr>
        <p:spPr>
          <a:xfrm>
            <a:off x="411480" y="640080"/>
            <a:ext cx="8321100" cy="27300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d1f4f215ea_1_163"/>
          <p:cNvSpPr/>
          <p:nvPr/>
        </p:nvSpPr>
        <p:spPr>
          <a:xfrm>
            <a:off x="411480" y="694944"/>
            <a:ext cx="8321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 a bibliografia citada nesta unidade — livros, artigos e recursos online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d1f4f215ea_1_163"/>
          <p:cNvSpPr/>
          <p:nvPr/>
        </p:nvSpPr>
        <p:spPr>
          <a:xfrm>
            <a:off x="406930" y="1169558"/>
            <a:ext cx="8321100" cy="2559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d1f4f215ea_1_163"/>
          <p:cNvSpPr/>
          <p:nvPr/>
        </p:nvSpPr>
        <p:spPr>
          <a:xfrm>
            <a:off x="507514" y="116955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Recursos Online (gratuitos)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d1f4f215ea_1_163"/>
          <p:cNvSpPr/>
          <p:nvPr/>
        </p:nvSpPr>
        <p:spPr>
          <a:xfrm>
            <a:off x="507514" y="1443878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c4model.com — Site oficial do C4 Model com exemplos e ferramentas.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d1f4f215ea_1_163"/>
          <p:cNvSpPr/>
          <p:nvPr/>
        </p:nvSpPr>
        <p:spPr>
          <a:xfrm>
            <a:off x="507514" y="1699910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docs.structurizr.com — Documentação completa do Structurizr DSL.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d1f4f215ea_1_163"/>
          <p:cNvSpPr/>
          <p:nvPr/>
        </p:nvSpPr>
        <p:spPr>
          <a:xfrm>
            <a:off x="507514" y="1955942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adr.github.io — Templates de ADR (MADR, Nygard e outros).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d1f4f215ea_1_163"/>
          <p:cNvSpPr/>
          <p:nvPr/>
        </p:nvSpPr>
        <p:spPr>
          <a:xfrm>
            <a:off x="507514" y="2211974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martinfowler.com/architecture — Artigos de Martin Fowler sobre arquitetura.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d1f4f215ea_1_163"/>
          <p:cNvSpPr/>
          <p:nvPr/>
        </p:nvSpPr>
        <p:spPr>
          <a:xfrm>
            <a:off x="507514" y="2468006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mkdocs.org — Ferramenta de Docs-as-Code.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16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3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Resumo — Unidade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3200400" y="621792"/>
            <a:ext cx="2743200" cy="36576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411480" y="786384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411480" y="786384"/>
            <a:ext cx="64008" cy="603504"/>
          </a:xfrm>
          <a:prstGeom prst="rect">
            <a:avLst/>
          </a:prstGeom>
          <a:solidFill>
            <a:srgbClr val="F05A28"/>
          </a:solidFill>
          <a:ln cap="flat" cmpd="sng" w="12700">
            <a:solidFill>
              <a:srgbClr val="F0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530352" y="786384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1078992" y="786384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Doc ruim é pior que ausente. Os 3 anti-patterns: BDUF, doc fora de sincronia e decisão sem contexto. A solução para os 3 é Docs-as-Code + ADRs.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411480" y="1481328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3"/>
          <p:cNvSpPr/>
          <p:nvPr/>
        </p:nvSpPr>
        <p:spPr>
          <a:xfrm>
            <a:off x="411480" y="1481328"/>
            <a:ext cx="64008" cy="603504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3"/>
          <p:cNvSpPr/>
          <p:nvPr/>
        </p:nvSpPr>
        <p:spPr>
          <a:xfrm>
            <a:off x="530352" y="1481328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1078992" y="1481328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C4 Model resolve 'um diagrama para todos': L1 para o CEO, L2 para DevOps, L3 para o dev backend. Cada zoom, um público, uma pergunta específica.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411480" y="2176272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411480" y="2176272"/>
            <a:ext cx="64008" cy="6035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3"/>
          <p:cNvSpPr/>
          <p:nvPr/>
        </p:nvSpPr>
        <p:spPr>
          <a:xfrm>
            <a:off x="530352" y="2176272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1078992" y="2176272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ADR registra o porquê da decisão — contexto + alternativas rejeitadas. Sem isso, o time de amanhã refaz a mesma análise do zero em 6 meses.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411480" y="2871216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3"/>
          <p:cNvSpPr/>
          <p:nvPr/>
        </p:nvSpPr>
        <p:spPr>
          <a:xfrm>
            <a:off x="411480" y="2871216"/>
            <a:ext cx="64008" cy="6035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530352" y="2871216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1078992" y="2871216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Visões 4+1 (Kruchten, 1995): não existe 'a arquitetura'. Lógica, Processo, Física e Desenvolvimento são perspectivas diferentes do mesmo sistema.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411480" y="3566160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3"/>
          <p:cNvSpPr/>
          <p:nvPr/>
        </p:nvSpPr>
        <p:spPr>
          <a:xfrm>
            <a:off x="411480" y="3566160"/>
            <a:ext cx="64008" cy="60350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3"/>
          <p:cNvSpPr/>
          <p:nvPr/>
        </p:nvSpPr>
        <p:spPr>
          <a:xfrm>
            <a:off x="530352" y="3566160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1078992" y="3566160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Docs-as-Code com Structurizr DSL e Mermaid transforma diagramas em código: versionado em Git, revisado em PR, publicado automaticamente no CI.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411480" y="4261104"/>
            <a:ext cx="8321040" cy="603504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3"/>
          <p:cNvSpPr/>
          <p:nvPr/>
        </p:nvSpPr>
        <p:spPr>
          <a:xfrm>
            <a:off x="411480" y="4261104"/>
            <a:ext cx="64008" cy="603504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3"/>
          <p:cNvSpPr/>
          <p:nvPr/>
        </p:nvSpPr>
        <p:spPr>
          <a:xfrm>
            <a:off x="530352" y="4261104"/>
            <a:ext cx="4754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1078992" y="4261104"/>
            <a:ext cx="75529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Nubank, Spotify e Mercado Livre usam ADRs e portais de documentação como parte do fluxo de engenharia — não como burocracia adicional.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solidFill>
            <a:srgbClr val="162038"/>
          </a:solidFill>
          <a:ln cap="flat" cmpd="sng" w="12700">
            <a:solidFill>
              <a:srgbClr val="16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3"/>
          <p:cNvSpPr/>
          <p:nvPr/>
        </p:nvSpPr>
        <p:spPr>
          <a:xfrm>
            <a:off x="411480" y="4956048"/>
            <a:ext cx="8321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Próximo: Unidade 3 — Camadas e Responsabilidades  ·  Clean Architecture  ·  DDD  ·  Injeção de Dependência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2026-03-22T20:10:06Z</dcterms:created>
  <dc:creator>PptxGenJS</dc:creator>
</cp:coreProperties>
</file>