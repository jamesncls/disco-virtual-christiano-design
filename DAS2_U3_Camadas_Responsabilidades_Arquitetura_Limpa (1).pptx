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12" r:id="rId3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ghpMNxo+cRhPdSJAsPlPuTFzcg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A6F818-61C4-4843-A74E-6F79ABA1CD6E}">
  <a:tblStyle styleId="{CBA6F818-61C4-4843-A74E-6F79ABA1CD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6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64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4e4e474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g3d4e4e4748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g3d4e4e4748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4e4e4748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d4e4e47480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d4e4e47480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Spaghetti code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não é descuido — é o </a:t>
            </a: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estado natural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de qualquer sistema que cresce sem arquitetura explícita. À medida que o código cresce, sem fronteiras claras entre responsabilidades, surgem quatro problemas recorrentes:</a:t>
            </a:r>
            <a:endParaRPr/>
          </a:p>
        </p:txBody>
      </p:sp>
      <p:sp>
        <p:nvSpPr>
          <p:cNvPr id="95" name="Google Shape;9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4e4e47480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d4e4e47480_0_1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d4e4e47480_0_1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4e4e47480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d4e4e47480_0_2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d4e4e47480_0_2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4e4e4748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d4e4e47480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d4e4e47480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4e4e47480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d4e4e47480_0_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d4e4e47480_0_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4e4e47480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g3d4e4e47480_0_5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3d4e4e47480_0_5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d4e4e47480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g3d4e4e47480_0_2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3d4e4e47480_0_2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4e4e47480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2" name="Google Shape;602;g3d4e4e47480_0_3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g3d4e4e47480_0_3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d4e4e47480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g3d4e4e47480_0_4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g3d4e4e47480_0_4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d4e4e47480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g3d4e4e47480_0_4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g3d4e4e47480_0_4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d4e4e47480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6" name="Google Shape;696;g3d4e4e47480_0_3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g3d4e4e47480_0_3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d4e4e47480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g3d4e4e47480_0_4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g3d4e4e47480_0_4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d4e4e47480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1" name="Google Shape;751;g3d4e4e47480_0_5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g3d4e4e47480_0_5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4" name="Google Shape;146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5" name="Google Shape;1465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4e4e47480_0_0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g3d4e4e47480_0_0"/>
          <p:cNvSpPr/>
          <p:nvPr/>
        </p:nvSpPr>
        <p:spPr>
          <a:xfrm>
            <a:off x="0" y="5065776"/>
            <a:ext cx="9144000" cy="77700"/>
          </a:xfrm>
          <a:prstGeom prst="rect">
            <a:avLst/>
          </a:prstGeom>
          <a:solidFill>
            <a:srgbClr val="162038"/>
          </a:solidFill>
          <a:ln w="12700" cap="flat" cmpd="sng">
            <a:solidFill>
              <a:srgbClr val="1620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g3d4e4e47480_0_0"/>
          <p:cNvSpPr/>
          <p:nvPr/>
        </p:nvSpPr>
        <p:spPr>
          <a:xfrm>
            <a:off x="411480" y="475488"/>
            <a:ext cx="2560200" cy="420600"/>
          </a:xfrm>
          <a:prstGeom prst="rect">
            <a:avLst/>
          </a:prstGeom>
          <a:solidFill>
            <a:srgbClr val="16203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g3d4e4e47480_0_0"/>
          <p:cNvSpPr/>
          <p:nvPr/>
        </p:nvSpPr>
        <p:spPr>
          <a:xfrm>
            <a:off x="411480" y="475488"/>
            <a:ext cx="2560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05A28"/>
                </a:solidFill>
                <a:latin typeface="Trebuchet MS"/>
                <a:ea typeface="Trebuchet MS"/>
                <a:cs typeface="Trebuchet MS"/>
                <a:sym typeface="Trebuchet MS"/>
              </a:rPr>
              <a:t>UNIDADE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d4e4e47480_0_0"/>
          <p:cNvSpPr/>
          <p:nvPr/>
        </p:nvSpPr>
        <p:spPr>
          <a:xfrm>
            <a:off x="411480" y="1005840"/>
            <a:ext cx="8321100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Camadas e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Responsabilidades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d4e4e47480_0_0"/>
          <p:cNvSpPr/>
          <p:nvPr/>
        </p:nvSpPr>
        <p:spPr>
          <a:xfrm>
            <a:off x="411480" y="2432304"/>
            <a:ext cx="8321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Clean Architecture · DDD · SOLID · Injeção de Dependência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d4e4e47480_0_0"/>
          <p:cNvSpPr/>
          <p:nvPr/>
        </p:nvSpPr>
        <p:spPr>
          <a:xfrm>
            <a:off x="411480" y="2871216"/>
            <a:ext cx="3840600" cy="36600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g3d4e4e47480_0_0"/>
          <p:cNvSpPr/>
          <p:nvPr/>
        </p:nvSpPr>
        <p:spPr>
          <a:xfrm>
            <a:off x="411480" y="3017520"/>
            <a:ext cx="2651700" cy="676800"/>
          </a:xfrm>
          <a:prstGeom prst="rect">
            <a:avLst/>
          </a:prstGeom>
          <a:solidFill>
            <a:srgbClr val="162038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g3d4e4e47480_0_0"/>
          <p:cNvSpPr/>
          <p:nvPr/>
        </p:nvSpPr>
        <p:spPr>
          <a:xfrm>
            <a:off x="521208" y="3017520"/>
            <a:ext cx="24324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🍝  O Problema sem Camadas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d4e4e47480_0_0"/>
          <p:cNvSpPr/>
          <p:nvPr/>
        </p:nvSpPr>
        <p:spPr>
          <a:xfrm>
            <a:off x="3246120" y="3017520"/>
            <a:ext cx="2651700" cy="676800"/>
          </a:xfrm>
          <a:prstGeom prst="rect">
            <a:avLst/>
          </a:prstGeom>
          <a:solidFill>
            <a:srgbClr val="162038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g3d4e4e47480_0_0"/>
          <p:cNvSpPr/>
          <p:nvPr/>
        </p:nvSpPr>
        <p:spPr>
          <a:xfrm>
            <a:off x="3355848" y="3017520"/>
            <a:ext cx="24324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🏛️  Clean Architecture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d4e4e47480_0_0"/>
          <p:cNvSpPr/>
          <p:nvPr/>
        </p:nvSpPr>
        <p:spPr>
          <a:xfrm>
            <a:off x="6080760" y="3017520"/>
            <a:ext cx="2651700" cy="676800"/>
          </a:xfrm>
          <a:prstGeom prst="rect">
            <a:avLst/>
          </a:prstGeom>
          <a:solidFill>
            <a:srgbClr val="162038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g3d4e4e47480_0_0"/>
          <p:cNvSpPr/>
          <p:nvPr/>
        </p:nvSpPr>
        <p:spPr>
          <a:xfrm>
            <a:off x="6190488" y="3017520"/>
            <a:ext cx="24324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📦  DDD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4e4e47480_0_0"/>
          <p:cNvSpPr/>
          <p:nvPr/>
        </p:nvSpPr>
        <p:spPr>
          <a:xfrm>
            <a:off x="411480" y="3822192"/>
            <a:ext cx="2651700" cy="676800"/>
          </a:xfrm>
          <a:prstGeom prst="rect">
            <a:avLst/>
          </a:prstGeom>
          <a:solidFill>
            <a:srgbClr val="162038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g3d4e4e47480_0_0"/>
          <p:cNvSpPr/>
          <p:nvPr/>
        </p:nvSpPr>
        <p:spPr>
          <a:xfrm>
            <a:off x="521208" y="3822192"/>
            <a:ext cx="24324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🔒  Princípios SOLID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d4e4e47480_0_0"/>
          <p:cNvSpPr/>
          <p:nvPr/>
        </p:nvSpPr>
        <p:spPr>
          <a:xfrm>
            <a:off x="3246120" y="3822192"/>
            <a:ext cx="2651700" cy="676800"/>
          </a:xfrm>
          <a:prstGeom prst="rect">
            <a:avLst/>
          </a:prstGeom>
          <a:solidFill>
            <a:srgbClr val="162038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g3d4e4e47480_0_0"/>
          <p:cNvSpPr/>
          <p:nvPr/>
        </p:nvSpPr>
        <p:spPr>
          <a:xfrm>
            <a:off x="3355848" y="3822192"/>
            <a:ext cx="24324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⚙️  Injeção de Dependência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d4e4e47480_0_0"/>
          <p:cNvSpPr/>
          <p:nvPr/>
        </p:nvSpPr>
        <p:spPr>
          <a:xfrm>
            <a:off x="6080760" y="3822192"/>
            <a:ext cx="2651700" cy="676800"/>
          </a:xfrm>
          <a:prstGeom prst="rect">
            <a:avLst/>
          </a:prstGeom>
          <a:solidFill>
            <a:srgbClr val="162038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g3d4e4e47480_0_0"/>
          <p:cNvSpPr/>
          <p:nvPr/>
        </p:nvSpPr>
        <p:spPr>
          <a:xfrm>
            <a:off x="6190488" y="3822192"/>
            <a:ext cx="24324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🏭  Cases + Referências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d4e4e47480_0_0"/>
          <p:cNvSpPr/>
          <p:nvPr/>
        </p:nvSpPr>
        <p:spPr>
          <a:xfrm>
            <a:off x="411480" y="4974336"/>
            <a:ext cx="83211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II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Agenda — Unidade 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Como organizar código que cresce sem virar caos?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1170432"/>
            <a:ext cx="402336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57200" y="1170432"/>
            <a:ext cx="566928" cy="129844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7200" y="1581912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05A28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97280" y="126187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O Problema sem Camadas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97280" y="1627632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Spaghetti code e por que surge naturalmente sem arquitetura explícita.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663440" y="1170432"/>
            <a:ext cx="402336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663440" y="1170432"/>
            <a:ext cx="566928" cy="129844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663440" y="1581912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05A28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03520" y="126187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Clean Architecture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303520" y="1627632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Camadas concêntricas, Regra de Dependência e fluxo de uma requisição.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57200" y="2578608"/>
            <a:ext cx="402336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57200" y="2578608"/>
            <a:ext cx="566928" cy="129844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57200" y="2990088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05A28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97280" y="267004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DDD — Domain-Driven Design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97280" y="3035808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Entities, Value Objects, Aggregates, Repositories e Bounded Contexts.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663440" y="2578608"/>
            <a:ext cx="402336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663440" y="2578608"/>
            <a:ext cx="566928" cy="129844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663440" y="2990088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05A28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303520" y="267004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Princípios SOLID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303520" y="3035808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princípios com exemplos de violação e correção em código real.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57200" y="3986784"/>
            <a:ext cx="402336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57200" y="3986784"/>
            <a:ext cx="566928" cy="129844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57200" y="4398264"/>
            <a:ext cx="5669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05A28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097280" y="407822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Injeção de Dependência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097280" y="4443984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Inversão de controle, DI containers e testabilidade sem infraestrutura.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lang="en-US" sz="5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🍝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Problema sem Camadas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14400" y="321868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Spaghetti code — como ele surge e por que é inevitável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4e4e47480_0_26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d4e4e47480_0_26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🍝  O que é Spaghetti Code?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d4e4e47480_0_26"/>
          <p:cNvSpPr/>
          <p:nvPr/>
        </p:nvSpPr>
        <p:spPr>
          <a:xfrm>
            <a:off x="457200" y="80467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Código sem fronteiras explícitas entre responsabilidades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d4e4e47480_0_26"/>
          <p:cNvSpPr/>
          <p:nvPr/>
        </p:nvSpPr>
        <p:spPr>
          <a:xfrm>
            <a:off x="457200" y="1042416"/>
            <a:ext cx="8229600" cy="228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d4e4e47480_0_26"/>
          <p:cNvSpPr/>
          <p:nvPr/>
        </p:nvSpPr>
        <p:spPr>
          <a:xfrm>
            <a:off x="457200" y="4919472"/>
            <a:ext cx="6400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g3d4e4e47480_0_26" title="0_RTnjKNOBLvh95iK-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151" y="1111401"/>
            <a:ext cx="5264175" cy="391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🍝  O que é Spaghetti Code?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Código sem fronteiras explícitas entre responsabilidades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7200" y="1170432"/>
            <a:ext cx="8229600" cy="713232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94360" y="1225296"/>
            <a:ext cx="7955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"Qualquer tolo consegue escrever código que um computador entende. Bons programadores escrevem código que humanos entendem."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94360" y="1645920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Martin Fowler, 2008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199339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Spaghetti code não é descuido — é o estado natural de qualquer sistema que cresce sem arquitetura explícita.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2542032"/>
            <a:ext cx="4023360" cy="9875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57200" y="2542032"/>
            <a:ext cx="402336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30352" y="2560320"/>
            <a:ext cx="38770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🗃️  Controller acessa banco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48640" y="2871216"/>
            <a:ext cx="3840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 Controller recebe o HTTP e, na mesma função, executa SQL. Trocar o banco = reescrever Controllers.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663440" y="2542032"/>
            <a:ext cx="4023360" cy="9875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663440" y="2542032"/>
            <a:ext cx="402336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736592" y="2560320"/>
            <a:ext cx="38770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🔗  Regra de negócio espalhada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754880" y="2871216"/>
            <a:ext cx="3840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 lógica 'pedido vazio não confirma' aparece no Controller, Service, cron job e migration.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3621024"/>
            <a:ext cx="4023360" cy="9875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57200" y="3621024"/>
            <a:ext cx="402336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530352" y="3639312"/>
            <a:ext cx="38770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🧪  Impossível testar isolado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3950208"/>
            <a:ext cx="3840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Para testar um desconto, você precisa de banco + HTTP + serviço externo rodando.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663440" y="3621024"/>
            <a:ext cx="4023360" cy="9875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663440" y="3621024"/>
            <a:ext cx="402336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736592" y="3639312"/>
            <a:ext cx="38770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🔄  Mudança quebra outro lugar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754880" y="3950208"/>
            <a:ext cx="3840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Sem fronteiras, alterar o modelo de dados quebra o Controller. O time tem medo de mexer.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🍝  Antes vs Depois: o impacto das camadas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Como a arquitetura explícita transforma o grafo de dependências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57200" y="1170432"/>
            <a:ext cx="3840480" cy="3657600"/>
          </a:xfrm>
          <a:prstGeom prst="rect">
            <a:avLst/>
          </a:prstGeom>
          <a:solidFill>
            <a:srgbClr val="FEF2F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48640" y="12252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DC2626"/>
                </a:solidFill>
                <a:latin typeface="Trebuchet MS"/>
                <a:ea typeface="Trebuchet MS"/>
                <a:cs typeface="Trebuchet MS"/>
                <a:sym typeface="Trebuchet MS"/>
              </a:rPr>
              <a:t>❌  Sem Camadas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58368" y="1664208"/>
            <a:ext cx="3438144" cy="420624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58368" y="1664208"/>
            <a:ext cx="34381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Controller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58368" y="2212848"/>
            <a:ext cx="3438144" cy="420624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58368" y="2212848"/>
            <a:ext cx="34381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Service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58368" y="2761488"/>
            <a:ext cx="3438144" cy="420624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58368" y="2761488"/>
            <a:ext cx="34381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58368" y="3310128"/>
            <a:ext cx="3438144" cy="420624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658368" y="3310128"/>
            <a:ext cx="34381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SQL / ORM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2377440" y="2084832"/>
            <a:ext cx="9144" cy="128016"/>
          </a:xfrm>
          <a:prstGeom prst="straightConnector1">
            <a:avLst/>
          </a:prstGeom>
          <a:noFill/>
          <a:ln w="254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5"/>
          <p:cNvCxnSpPr/>
          <p:nvPr/>
        </p:nvCxnSpPr>
        <p:spPr>
          <a:xfrm>
            <a:off x="2377440" y="2633472"/>
            <a:ext cx="9144" cy="128016"/>
          </a:xfrm>
          <a:prstGeom prst="straightConnector1">
            <a:avLst/>
          </a:prstGeom>
          <a:noFill/>
          <a:ln w="254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" name="Google Shape;144;p5"/>
          <p:cNvCxnSpPr/>
          <p:nvPr/>
        </p:nvCxnSpPr>
        <p:spPr>
          <a:xfrm>
            <a:off x="2377440" y="3182112"/>
            <a:ext cx="9144" cy="128016"/>
          </a:xfrm>
          <a:prstGeom prst="straightConnector1">
            <a:avLst/>
          </a:prstGeom>
          <a:noFill/>
          <a:ln w="254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5"/>
          <p:cNvCxnSpPr/>
          <p:nvPr/>
        </p:nvCxnSpPr>
        <p:spPr>
          <a:xfrm>
            <a:off x="3474720" y="1874520"/>
            <a:ext cx="274320" cy="88696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" name="Google Shape;146;p5"/>
          <p:cNvCxnSpPr/>
          <p:nvPr/>
        </p:nvCxnSpPr>
        <p:spPr>
          <a:xfrm>
            <a:off x="1005840" y="1874520"/>
            <a:ext cx="274320" cy="143560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5"/>
          <p:cNvCxnSpPr/>
          <p:nvPr/>
        </p:nvCxnSpPr>
        <p:spPr>
          <a:xfrm>
            <a:off x="3474720" y="2971800"/>
            <a:ext cx="274320" cy="33832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5"/>
          <p:cNvSpPr/>
          <p:nvPr/>
        </p:nvSpPr>
        <p:spPr>
          <a:xfrm>
            <a:off x="548640" y="38039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Qualquer camada acessa qualquer outra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48640" y="407822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Resultado: medo de mexer no código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846320" y="1170432"/>
            <a:ext cx="3840480" cy="36576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937760" y="12252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✅  Com Camadas (Clean Arch)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956048" y="1664208"/>
            <a:ext cx="3438144" cy="420624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956048" y="1664208"/>
            <a:ext cx="34381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④ Frameworks </a:t>
            </a:r>
            <a:r>
              <a:rPr lang="en-US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</a:t>
            </a: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Drivers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6675120" y="2084832"/>
            <a:ext cx="0" cy="237744"/>
          </a:xfrm>
          <a:prstGeom prst="straightConnector1">
            <a:avLst/>
          </a:prstGeom>
          <a:noFill/>
          <a:ln w="254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5"/>
          <p:cNvSpPr/>
          <p:nvPr/>
        </p:nvSpPr>
        <p:spPr>
          <a:xfrm>
            <a:off x="6561530" y="2103120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↓ depende de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056632" y="2322576"/>
            <a:ext cx="3236976" cy="420624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5056632" y="2322576"/>
            <a:ext cx="323697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③ Interface Adapters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6675120" y="2743200"/>
            <a:ext cx="0" cy="237744"/>
          </a:xfrm>
          <a:prstGeom prst="straightConnector1">
            <a:avLst/>
          </a:prstGeom>
          <a:noFill/>
          <a:ln w="254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5"/>
          <p:cNvSpPr/>
          <p:nvPr/>
        </p:nvSpPr>
        <p:spPr>
          <a:xfrm>
            <a:off x="6561530" y="276148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↓ depende de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157216" y="2980944"/>
            <a:ext cx="3035808" cy="42062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157216" y="2980944"/>
            <a:ext cx="30358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② Use Cases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6675120" y="3401568"/>
            <a:ext cx="0" cy="237744"/>
          </a:xfrm>
          <a:prstGeom prst="straightConnector1">
            <a:avLst/>
          </a:prstGeom>
          <a:noFill/>
          <a:ln w="254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5"/>
          <p:cNvSpPr/>
          <p:nvPr/>
        </p:nvSpPr>
        <p:spPr>
          <a:xfrm>
            <a:off x="6561530" y="3419856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↓ depende de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257800" y="3639312"/>
            <a:ext cx="2834640" cy="420624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5257800" y="3639312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① Domain / Entities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937760" y="4224529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Dependências só apontam para dentro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937760" y="4498849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Resultado: banco trocado em 2 horas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4e4e47480_0_169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d4e4e47480_0_169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💻  Código: </a:t>
            </a:r>
            <a:r>
              <a:rPr lang="en-US" sz="26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Exemplo do problema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d4e4e47480_0_169"/>
          <p:cNvSpPr/>
          <p:nvPr/>
        </p:nvSpPr>
        <p:spPr>
          <a:xfrm>
            <a:off x="457200" y="80467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Recebe uma requisição e acessa banco diretamente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4e4e47480_0_169"/>
          <p:cNvSpPr/>
          <p:nvPr/>
        </p:nvSpPr>
        <p:spPr>
          <a:xfrm>
            <a:off x="457200" y="1042416"/>
            <a:ext cx="8229600" cy="228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d4e4e47480_0_169"/>
          <p:cNvSpPr/>
          <p:nvPr/>
        </p:nvSpPr>
        <p:spPr>
          <a:xfrm>
            <a:off x="457200" y="4919472"/>
            <a:ext cx="6400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d4e4e47480_0_169"/>
          <p:cNvSpPr/>
          <p:nvPr/>
        </p:nvSpPr>
        <p:spPr>
          <a:xfrm>
            <a:off x="457200" y="1170432"/>
            <a:ext cx="8229600" cy="2742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d4e4e47480_0_169"/>
          <p:cNvSpPr/>
          <p:nvPr/>
        </p:nvSpPr>
        <p:spPr>
          <a:xfrm>
            <a:off x="548640" y="1197864"/>
            <a:ext cx="8046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05A28"/>
                </a:solidFill>
                <a:latin typeface="Consolas"/>
                <a:ea typeface="Consolas"/>
                <a:cs typeface="Consolas"/>
                <a:sym typeface="Consolas"/>
              </a:rPr>
              <a:t>PedidoController.py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4e4e47480_0_169"/>
          <p:cNvSpPr/>
          <p:nvPr/>
        </p:nvSpPr>
        <p:spPr>
          <a:xfrm>
            <a:off x="457200" y="1444752"/>
            <a:ext cx="8229600" cy="3154800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3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d4e4e47480_0_169"/>
          <p:cNvSpPr/>
          <p:nvPr/>
        </p:nvSpPr>
        <p:spPr>
          <a:xfrm>
            <a:off x="594360" y="1536192"/>
            <a:ext cx="79554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# Exemplo do problema</a:t>
            </a:r>
            <a:endParaRPr sz="1000">
              <a:solidFill>
                <a:srgbClr val="16A34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PedidoController</a:t>
            </a: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4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criar_pedido</a:t>
            </a: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4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4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recebe HTTP E executa SQL na mesma função</a:t>
            </a:r>
            <a:endParaRPr sz="14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conn </a:t>
            </a:r>
            <a:r>
              <a:rPr lang="en-US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psycopg2.connect(DB_URL)</a:t>
            </a:r>
            <a:endParaRPr sz="14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</a:t>
            </a:r>
            <a:r>
              <a:rPr lang="en-US" sz="14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"INSERT INTO pedidos ..."</a:t>
            </a:r>
            <a:r>
              <a:rPr lang="en-US" sz="14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(...))</a:t>
            </a:r>
            <a:endParaRPr sz="14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endParaRPr sz="10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d4e4e47480_0_169"/>
          <p:cNvSpPr/>
          <p:nvPr/>
        </p:nvSpPr>
        <p:spPr>
          <a:xfrm>
            <a:off x="457200" y="4663440"/>
            <a:ext cx="8229600" cy="4389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d4e4e47480_0_169"/>
          <p:cNvSpPr/>
          <p:nvPr/>
        </p:nvSpPr>
        <p:spPr>
          <a:xfrm>
            <a:off x="566928" y="4700016"/>
            <a:ext cx="801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200" b="1">
                <a:solidFill>
                  <a:srgbClr val="DC2626"/>
                </a:solidFill>
                <a:latin typeface="Trebuchet MS"/>
                <a:ea typeface="Trebuchet MS"/>
                <a:cs typeface="Trebuchet MS"/>
                <a:sym typeface="Trebuchet MS"/>
              </a:rPr>
              <a:t>❌</a:t>
            </a:r>
            <a:r>
              <a:rPr lang="en-US" sz="10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Controller está fazendo duas coisas ao mesmo tempo: recebe a requisição e acessa o banco diretamente.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4e4e47480_0_249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d4e4e47480_0_249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💻  Código: </a:t>
            </a:r>
            <a:r>
              <a:rPr lang="en-US" sz="26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Exemplo do problema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d4e4e47480_0_249"/>
          <p:cNvSpPr/>
          <p:nvPr/>
        </p:nvSpPr>
        <p:spPr>
          <a:xfrm>
            <a:off x="457200" y="80467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Controller acessa banco diretamente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d4e4e47480_0_249"/>
          <p:cNvSpPr/>
          <p:nvPr/>
        </p:nvSpPr>
        <p:spPr>
          <a:xfrm>
            <a:off x="457200" y="1042416"/>
            <a:ext cx="8229600" cy="228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d4e4e47480_0_249"/>
          <p:cNvSpPr/>
          <p:nvPr/>
        </p:nvSpPr>
        <p:spPr>
          <a:xfrm>
            <a:off x="457200" y="4919472"/>
            <a:ext cx="6400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d4e4e47480_0_249"/>
          <p:cNvSpPr/>
          <p:nvPr/>
        </p:nvSpPr>
        <p:spPr>
          <a:xfrm>
            <a:off x="457200" y="1170432"/>
            <a:ext cx="8229600" cy="2742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d4e4e47480_0_249"/>
          <p:cNvSpPr/>
          <p:nvPr/>
        </p:nvSpPr>
        <p:spPr>
          <a:xfrm>
            <a:off x="548640" y="1197864"/>
            <a:ext cx="8046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onsolas"/>
              <a:buNone/>
            </a:pPr>
            <a:r>
              <a:rPr lang="en-US" sz="9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PedidoController.py e PedidoRepository.py </a:t>
            </a:r>
            <a:endParaRPr sz="9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4e4e47480_0_249"/>
          <p:cNvSpPr/>
          <p:nvPr/>
        </p:nvSpPr>
        <p:spPr>
          <a:xfrm>
            <a:off x="457200" y="1444752"/>
            <a:ext cx="8229600" cy="3154800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3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d4e4e47480_0_249"/>
          <p:cNvSpPr/>
          <p:nvPr/>
        </p:nvSpPr>
        <p:spPr>
          <a:xfrm>
            <a:off x="594360" y="1536192"/>
            <a:ext cx="79554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PedidoController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criar_pedido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comando </a:t>
            </a:r>
            <a:r>
              <a:rPr lang="en-US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CriarPedidoCommand(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usuario_id</a:t>
            </a:r>
            <a:r>
              <a:rPr lang="en-US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request.usuario_id,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itens</a:t>
            </a:r>
            <a:r>
              <a:rPr lang="en-US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request.itens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.criar_pedido_use_case.executar(comando)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PedidoRepository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salvar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pedido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conn </a:t>
            </a:r>
            <a:r>
              <a:rPr lang="en-US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psycopg2.connect(DB_URL)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cursor </a:t>
            </a:r>
            <a:r>
              <a:rPr lang="en-US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conn.cursor()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</a:t>
            </a:r>
            <a:r>
              <a:rPr lang="en-US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"INSERT INTO pedidos ..."</a:t>
            </a: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(...))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conn.commit() 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16A34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endParaRPr sz="10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d4e4e47480_0_249"/>
          <p:cNvSpPr/>
          <p:nvPr/>
        </p:nvSpPr>
        <p:spPr>
          <a:xfrm>
            <a:off x="457200" y="4663440"/>
            <a:ext cx="8229600" cy="4389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d4e4e47480_0_249"/>
          <p:cNvSpPr/>
          <p:nvPr/>
        </p:nvSpPr>
        <p:spPr>
          <a:xfrm>
            <a:off x="566928" y="4700016"/>
            <a:ext cx="801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 controller só recebe a entrada, o use case coordena, o domain aplica a regra, e o repository fala com o banco.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lang="en-US" sz="5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🏛️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Clean Architecture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914400" y="321868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Robert C. Martin, 2012 — regras de negócio no centro, detalhes na periferia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Clean Architecture — Origem e Ideia Central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7" title="www.oreilly.png"/>
          <p:cNvPicPr preferRelativeResize="0"/>
          <p:nvPr/>
        </p:nvPicPr>
        <p:blipFill rotWithShape="1">
          <a:blip r:embed="rId3">
            <a:alphaModFix/>
          </a:blip>
          <a:srcRect l="29474" r="29828"/>
          <a:stretch/>
        </p:blipFill>
        <p:spPr>
          <a:xfrm>
            <a:off x="1086946" y="1916325"/>
            <a:ext cx="2471454" cy="31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 title="Robert_C._Martin_surrounded_by_computer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5048" y="1970400"/>
            <a:ext cx="3894328" cy="30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/>
          <p:nvPr/>
        </p:nvSpPr>
        <p:spPr>
          <a:xfrm>
            <a:off x="457200" y="1097280"/>
            <a:ext cx="8229600" cy="7131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94360" y="1152144"/>
            <a:ext cx="79554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"A arquitetura boa maximiza o número de decisões que NÃO precisam ser tomadas."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94360" y="1572768"/>
            <a:ext cx="7955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Robert C. Martin — Clean Architecture, 2017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4e4e47480_0_74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d4e4e47480_0_74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Clean Architecture — Origem e Ideia Central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d4e4e47480_0_74"/>
          <p:cNvSpPr/>
          <p:nvPr/>
        </p:nvSpPr>
        <p:spPr>
          <a:xfrm>
            <a:off x="457200" y="914400"/>
            <a:ext cx="8229600" cy="228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d4e4e47480_0_74"/>
          <p:cNvSpPr/>
          <p:nvPr/>
        </p:nvSpPr>
        <p:spPr>
          <a:xfrm>
            <a:off x="457200" y="4919472"/>
            <a:ext cx="6400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d4e4e47480_0_74"/>
          <p:cNvSpPr/>
          <p:nvPr/>
        </p:nvSpPr>
        <p:spPr>
          <a:xfrm>
            <a:off x="457200" y="1097280"/>
            <a:ext cx="8229600" cy="7131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d4e4e47480_0_74"/>
          <p:cNvSpPr/>
          <p:nvPr/>
        </p:nvSpPr>
        <p:spPr>
          <a:xfrm>
            <a:off x="594360" y="1152144"/>
            <a:ext cx="79554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"A arquitetura boa maximiza o número de decisões que NÃO precisam ser tomadas."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4e4e47480_0_74"/>
          <p:cNvSpPr/>
          <p:nvPr/>
        </p:nvSpPr>
        <p:spPr>
          <a:xfrm>
            <a:off x="594360" y="1572768"/>
            <a:ext cx="7955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Robert C. Martin — Clean Architecture, 2017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d4e4e47480_0_74"/>
          <p:cNvSpPr/>
          <p:nvPr/>
        </p:nvSpPr>
        <p:spPr>
          <a:xfrm>
            <a:off x="457200" y="1965960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Proposta por Uncle Bob em 2012 e formalizada no livro de 2017. Não é nova — é síntese de: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d4e4e47480_0_74"/>
          <p:cNvSpPr/>
          <p:nvPr/>
        </p:nvSpPr>
        <p:spPr>
          <a:xfrm>
            <a:off x="457200" y="2423160"/>
            <a:ext cx="8229600" cy="47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d4e4e47480_0_74"/>
          <p:cNvSpPr/>
          <p:nvPr/>
        </p:nvSpPr>
        <p:spPr>
          <a:xfrm>
            <a:off x="457200" y="2423160"/>
            <a:ext cx="73200" cy="475500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d4e4e47480_0_74"/>
          <p:cNvSpPr/>
          <p:nvPr/>
        </p:nvSpPr>
        <p:spPr>
          <a:xfrm>
            <a:off x="621792" y="2459736"/>
            <a:ext cx="5486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Trebuchet MS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Hexagonal Architecture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d4e4e47480_0_74"/>
          <p:cNvSpPr/>
          <p:nvPr/>
        </p:nvSpPr>
        <p:spPr>
          <a:xfrm>
            <a:off x="621792" y="2679192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Alistair Cockburn, 2005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d4e4e47480_0_74"/>
          <p:cNvSpPr/>
          <p:nvPr/>
        </p:nvSpPr>
        <p:spPr>
          <a:xfrm>
            <a:off x="457200" y="2990088"/>
            <a:ext cx="8229600" cy="47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d4e4e47480_0_74"/>
          <p:cNvSpPr/>
          <p:nvPr/>
        </p:nvSpPr>
        <p:spPr>
          <a:xfrm>
            <a:off x="457200" y="2990088"/>
            <a:ext cx="73200" cy="475500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d4e4e47480_0_74"/>
          <p:cNvSpPr/>
          <p:nvPr/>
        </p:nvSpPr>
        <p:spPr>
          <a:xfrm>
            <a:off x="621792" y="3026664"/>
            <a:ext cx="5486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Trebuchet MS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Onion Architecture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d4e4e47480_0_74"/>
          <p:cNvSpPr/>
          <p:nvPr/>
        </p:nvSpPr>
        <p:spPr>
          <a:xfrm>
            <a:off x="621792" y="3246120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Jeffrey Palermo, 2008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4e4e47480_0_74"/>
          <p:cNvSpPr/>
          <p:nvPr/>
        </p:nvSpPr>
        <p:spPr>
          <a:xfrm>
            <a:off x="457200" y="3557016"/>
            <a:ext cx="8229600" cy="47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d4e4e47480_0_74"/>
          <p:cNvSpPr/>
          <p:nvPr/>
        </p:nvSpPr>
        <p:spPr>
          <a:xfrm>
            <a:off x="457200" y="3557016"/>
            <a:ext cx="73200" cy="475500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d4e4e47480_0_74"/>
          <p:cNvSpPr/>
          <p:nvPr/>
        </p:nvSpPr>
        <p:spPr>
          <a:xfrm>
            <a:off x="621792" y="3593592"/>
            <a:ext cx="5486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Trebuchet MS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BCE (Boundary-Control-Entity)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d4e4e47480_0_74"/>
          <p:cNvSpPr/>
          <p:nvPr/>
        </p:nvSpPr>
        <p:spPr>
          <a:xfrm>
            <a:off x="621792" y="3813048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Ivar Jacobson, 1992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d4e4e47480_0_74"/>
          <p:cNvSpPr/>
          <p:nvPr/>
        </p:nvSpPr>
        <p:spPr>
          <a:xfrm>
            <a:off x="457200" y="4187952"/>
            <a:ext cx="8229600" cy="4755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d4e4e47480_0_74"/>
          <p:cNvSpPr/>
          <p:nvPr/>
        </p:nvSpPr>
        <p:spPr>
          <a:xfrm>
            <a:off x="548640" y="4206240"/>
            <a:ext cx="8046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Princípio central: o código de negócio não deve saber nada sobre banco, HTTP, frameworks ou libs externas. Esses são detalhes.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4e4e47480_0_136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d4e4e47480_0_136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Clean Architecture — Origem e Ideia Central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d4e4e47480_0_136"/>
          <p:cNvSpPr/>
          <p:nvPr/>
        </p:nvSpPr>
        <p:spPr>
          <a:xfrm>
            <a:off x="457200" y="914400"/>
            <a:ext cx="8229600" cy="228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d4e4e47480_0_136"/>
          <p:cNvSpPr/>
          <p:nvPr/>
        </p:nvSpPr>
        <p:spPr>
          <a:xfrm>
            <a:off x="457200" y="4919472"/>
            <a:ext cx="6400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g3d4e4e47480_0_136" title="1_mfOLktdlFa1yp2tFSyKIOQ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" y="1358049"/>
            <a:ext cx="3026475" cy="302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d4e4e47480_0_136" title="1_NfFzI7Z-E3ypn8ahESbDzw.png"/>
          <p:cNvPicPr preferRelativeResize="0"/>
          <p:nvPr/>
        </p:nvPicPr>
        <p:blipFill rotWithShape="1">
          <a:blip r:embed="rId4">
            <a:alphaModFix/>
          </a:blip>
          <a:srcRect l="9025" t="9838" b="9982"/>
          <a:stretch/>
        </p:blipFill>
        <p:spPr>
          <a:xfrm>
            <a:off x="4061575" y="1440387"/>
            <a:ext cx="4770202" cy="286179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d4e4e47480_0_136"/>
          <p:cNvSpPr/>
          <p:nvPr/>
        </p:nvSpPr>
        <p:spPr>
          <a:xfrm>
            <a:off x="5281867" y="4384536"/>
            <a:ext cx="5486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Trebuchet MS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Hexagonal Architecture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d4e4e47480_0_136"/>
          <p:cNvSpPr/>
          <p:nvPr/>
        </p:nvSpPr>
        <p:spPr>
          <a:xfrm>
            <a:off x="1153542" y="4447889"/>
            <a:ext cx="5486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Trebuchet MS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Onion Architecture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A Regra de Dependência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lei fundamental — dependências de código sempre apontam para dentro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594360" y="1152144"/>
            <a:ext cx="7955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"Dependências de código-fonte devem apontar apenas para dentro — em direção às políticas de alto nível."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94360" y="15727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Robert C. Martin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57200" y="4736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dependências apontam para dentro →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754880" y="1938528"/>
            <a:ext cx="4069080" cy="2176272"/>
          </a:xfrm>
          <a:prstGeom prst="rect">
            <a:avLst/>
          </a:prstGeom>
          <a:solidFill>
            <a:srgbClr val="FEF2F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846320" y="1984248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Trebuchet MS"/>
                <a:ea typeface="Trebuchet MS"/>
                <a:cs typeface="Trebuchet MS"/>
                <a:sym typeface="Trebuchet MS"/>
              </a:rPr>
              <a:t>❌  O que a regra proíbe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846320" y="2322576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Entity importa classe do Spring / Django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846320" y="2670048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Use Case importa ORM (SQLAlchemy, Hibernate)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846320" y="3017520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Domain conhece o nome da tabela no banco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846320" y="3364992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Regra de negócio depende de variável de ambiente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846320" y="3712464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Entity usa biblioteca de serialização JSON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754880" y="4169664"/>
            <a:ext cx="4069080" cy="65836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4846320" y="4187952"/>
            <a:ext cx="38862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Teste rápido: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"Se eu apagar o arquivo do framework, a lógica de negócio ainda compila?"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8" title="1_ZNT5apOxDzGrTKUJQAIc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63" y="1988450"/>
            <a:ext cx="4069074" cy="2716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O que vai em cada camada?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Referência visual rápida — cada camada tem responsabilidades exclusivas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57200" y="1170432"/>
            <a:ext cx="8229600" cy="804672"/>
          </a:xfrm>
          <a:prstGeom prst="rect">
            <a:avLst/>
          </a:prstGeom>
          <a:solidFill>
            <a:srgbClr val="FFFFC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66928" y="117043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1 - </a:t>
            </a:r>
            <a:r>
              <a:rPr lang="en-US" sz="14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DOMAIN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2697480" y="1261872"/>
            <a:ext cx="2743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2788920" y="1225296"/>
            <a:ext cx="576072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  ·  CPF  ·  Money  ·  OrderStatus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OrderRepository (interface)  ·  OrderConfirmed (Event)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57200" y="2084832"/>
            <a:ext cx="8229600" cy="804672"/>
          </a:xfrm>
          <a:prstGeom prst="rect">
            <a:avLst/>
          </a:prstGeom>
          <a:solidFill>
            <a:srgbClr val="FFB0AC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566928" y="208483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2 - </a:t>
            </a:r>
            <a:r>
              <a:rPr lang="en-US" sz="14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USE CASES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2697480" y="2176272"/>
            <a:ext cx="2743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2788920" y="2139696"/>
            <a:ext cx="576072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CreateOrderUseCase  ·  CancelOrderUseCase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CreateOrderCommand  ·  ApplyDiscountUseCase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57200" y="2999232"/>
            <a:ext cx="8229600" cy="804672"/>
          </a:xfrm>
          <a:prstGeom prst="rect">
            <a:avLst/>
          </a:prstGeom>
          <a:solidFill>
            <a:srgbClr val="B3FFCB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66928" y="299923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3 - </a:t>
            </a:r>
            <a:r>
              <a:rPr lang="en-US" sz="14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ADAPTERS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2697480" y="3090672"/>
            <a:ext cx="2743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2788920" y="3054096"/>
            <a:ext cx="576072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OrderController (HTTP)  ·  PostgresOrderRepository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OrderPresenter  ·  KafkaOrderPublisher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57200" y="3913632"/>
            <a:ext cx="8229600" cy="804672"/>
          </a:xfrm>
          <a:prstGeom prst="rect">
            <a:avLst/>
          </a:prstGeom>
          <a:solidFill>
            <a:srgbClr val="B7E7FF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66928" y="391363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4 - </a:t>
            </a:r>
            <a:r>
              <a:rPr lang="en-US" sz="14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FRAMEWORKS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697480" y="4005072"/>
            <a:ext cx="2743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2788920" y="3968496"/>
            <a:ext cx="576072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FastAPI / Spring / Django  ·  SQLAlchemy / Hibernate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RabbitMQ / Kafka  ·  Stripe SDK / Auth0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48640" y="4882896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💡  Dependências sempre apontam para CIMA: ④ depende de ③ que depende de ② que depende de ①. O ① nunca importa nada dos outros.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Camada Domain — o núcleo intocável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Regras de negócio que existem independente de qualquer tecnologia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57200" y="1170432"/>
            <a:ext cx="8229600" cy="512064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566928" y="1207008"/>
            <a:ext cx="801014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💡  Se você pode rodar a lógica Domain sem banco, sem HTTP e sem framework — ela está correta.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457200" y="1792224"/>
            <a:ext cx="4023360" cy="3017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329" name="Google Shape;329;p10"/>
          <p:cNvSpPr/>
          <p:nvPr/>
        </p:nvSpPr>
        <p:spPr>
          <a:xfrm>
            <a:off x="457200" y="1792224"/>
            <a:ext cx="4023360" cy="31089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548640" y="181051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✅  O que VAI aqui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548640" y="2157984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✓  Entities com identidade e invariantes de negócio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48640" y="259689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✓  Value Objects imutáveis (CPF, Email, Money)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548640" y="303580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✓  Enumerações de domínio (OrderStatus, PaymentType)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548640" y="347472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✓  Exceções de domínio (OrderValidationError)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548640" y="391363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✓  Interfaces de Repository (implementadas na infra)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48640" y="4352544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✓  Domain Events (OrderConfirmed, PaymentApproved)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663440" y="1792224"/>
            <a:ext cx="4023360" cy="3017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338" name="Google Shape;338;p10"/>
          <p:cNvSpPr/>
          <p:nvPr/>
        </p:nvSpPr>
        <p:spPr>
          <a:xfrm>
            <a:off x="4663440" y="1792224"/>
            <a:ext cx="4023360" cy="31089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4754880" y="181051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❌  O que NUNCA vai aqui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754880" y="2157984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Imports de ORM (SQLAlchemy, Hibernate, Prisma)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4754880" y="259689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Decorators de framework (@Entity, @Column)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4754880" y="303580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Lógica de serialização JSON / XML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4754880" y="347472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Chamadas HTTP ou a serviços externos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754880" y="391363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Variáveis de ambiente ou configuração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4754880" y="4352544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1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Qualquer import de biblioteca de terceiros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Camada Use Cases — o orquestrador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Sabe O QUE fazer, mas não sabe COMO — não acessa infraestrutura diretamente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57" name="Google Shape;357;p11"/>
          <p:cNvSpPr/>
          <p:nvPr/>
        </p:nvSpPr>
        <p:spPr>
          <a:xfrm>
            <a:off x="594360" y="1152144"/>
            <a:ext cx="7955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"O Use Case orquestra. A regra de negócio vive no Domain. A infraestrutura vive nos Adapters."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594360" y="15727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Síntese da Clean Architecture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457200" y="1965960"/>
            <a:ext cx="8229600" cy="4206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0" name="Google Shape;360;p11"/>
          <p:cNvSpPr/>
          <p:nvPr/>
        </p:nvSpPr>
        <p:spPr>
          <a:xfrm>
            <a:off x="457200" y="1965960"/>
            <a:ext cx="1097280" cy="42062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1" name="Google Shape;361;p11"/>
          <p:cNvSpPr/>
          <p:nvPr/>
        </p:nvSpPr>
        <p:spPr>
          <a:xfrm>
            <a:off x="457200" y="1965960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Recebe: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1627632" y="2039112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3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Um Command ou DTO com os dados de entrada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457200" y="2441448"/>
            <a:ext cx="8229600" cy="4206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4" name="Google Shape;364;p11"/>
          <p:cNvSpPr/>
          <p:nvPr/>
        </p:nvSpPr>
        <p:spPr>
          <a:xfrm>
            <a:off x="457200" y="2441448"/>
            <a:ext cx="1097280" cy="42062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5" name="Google Shape;365;p11"/>
          <p:cNvSpPr/>
          <p:nvPr/>
        </p:nvSpPr>
        <p:spPr>
          <a:xfrm>
            <a:off x="457200" y="2441448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Valida: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1627632" y="251460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3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Pré-condições de aplicação (ex: usuário existe?)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457200" y="2916936"/>
            <a:ext cx="8229600" cy="4206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8" name="Google Shape;368;p11"/>
          <p:cNvSpPr/>
          <p:nvPr/>
        </p:nvSpPr>
        <p:spPr>
          <a:xfrm>
            <a:off x="457200" y="2916936"/>
            <a:ext cx="1097280" cy="42062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9" name="Google Shape;369;p11"/>
          <p:cNvSpPr/>
          <p:nvPr/>
        </p:nvSpPr>
        <p:spPr>
          <a:xfrm>
            <a:off x="457200" y="2916936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Chama: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1627632" y="299008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3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Métodos do Domain — onde a regra de negócio vive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57200" y="3392424"/>
            <a:ext cx="8229600" cy="4206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2" name="Google Shape;372;p11"/>
          <p:cNvSpPr/>
          <p:nvPr/>
        </p:nvSpPr>
        <p:spPr>
          <a:xfrm>
            <a:off x="457200" y="3392424"/>
            <a:ext cx="1097280" cy="42062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3" name="Google Shape;373;p11"/>
          <p:cNvSpPr/>
          <p:nvPr/>
        </p:nvSpPr>
        <p:spPr>
          <a:xfrm>
            <a:off x="457200" y="339242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Persiste: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1627632" y="34655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3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Via interface de Repository (que ele não implementa)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457200" y="3867912"/>
            <a:ext cx="8229600" cy="4206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6" name="Google Shape;376;p11"/>
          <p:cNvSpPr/>
          <p:nvPr/>
        </p:nvSpPr>
        <p:spPr>
          <a:xfrm>
            <a:off x="457200" y="3867912"/>
            <a:ext cx="1097280" cy="42062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7" name="Google Shape;377;p11"/>
          <p:cNvSpPr/>
          <p:nvPr/>
        </p:nvSpPr>
        <p:spPr>
          <a:xfrm>
            <a:off x="457200" y="3867912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Publica: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1627632" y="3941064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3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Domain Events para outros bounded contexts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457200" y="4343400"/>
            <a:ext cx="8229600" cy="4206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80" name="Google Shape;380;p11"/>
          <p:cNvSpPr/>
          <p:nvPr/>
        </p:nvSpPr>
        <p:spPr>
          <a:xfrm>
            <a:off x="457200" y="4343400"/>
            <a:ext cx="1097280" cy="42062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81" name="Google Shape;381;p11"/>
          <p:cNvSpPr/>
          <p:nvPr/>
        </p:nvSpPr>
        <p:spPr>
          <a:xfrm>
            <a:off x="457200" y="4343400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Retorna: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1627632" y="4416552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3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Um Result Object ou lança Application Exception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Use Case — Erros Comuns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Onde os times erram ao implementar a camada de aplicação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57200" y="1170432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457200" y="1170432"/>
            <a:ext cx="73152" cy="6400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603504" y="1207008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✗  SQL direto no Use 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603504" y="148132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Case executando query SQL diretamente — viola a Regra de Dependência. SQL pertence ao Repository Adapter.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57200" y="1883664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457200" y="1883664"/>
            <a:ext cx="73152" cy="64008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603504" y="192024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✗  Regra de negócio no Use 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603504" y="219456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'Pedido vazio não pode ser confirmado' deveria estar na Entity como invariante — não no Use Case.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457200" y="2596896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457200" y="2596896"/>
            <a:ext cx="73152" cy="64008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603504" y="2633472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✗  HTTP no Use 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603504" y="2907792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Case chamando requests.get() ou fazendo fetch — acoplamento direto com infraestrutura de rede.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457200" y="3310128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457200" y="3310128"/>
            <a:ext cx="73152" cy="640080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603504" y="3346704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✗  Serialização no Use 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603504" y="362102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Case construindo JSON de resposta — responsabilidade do Presenter na camada Adapters.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457200" y="4023360"/>
            <a:ext cx="73152" cy="64008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603504" y="4059936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✗  Annotation de framework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603504" y="4334256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@Transactional, @GetMapping no Use Case — viola a independência de framework. Use Cases devem ser POJOs/POPOs.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Camada Interface Adapters — tradução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Não têm lógica de negócio. Se encontrar um 'if' de regra aqui, está no lugar errado.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457200" y="1170432"/>
            <a:ext cx="2724912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457200" y="1170432"/>
            <a:ext cx="2724912" cy="38404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530352" y="1225296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📥  Controller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548640" y="1627632"/>
            <a:ext cx="25420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Não faz: </a:t>
            </a: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Não valida regra de negócio. Não acessa banco.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548640" y="2212848"/>
            <a:ext cx="254203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Papel: </a:t>
            </a:r>
            <a:r>
              <a:rPr lang="en-US" sz="9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Recebe HTTP (ou evento, CLI, gRPC), extrai dados, constrói o Command e chama o Use Case.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548640" y="3273552"/>
            <a:ext cx="2542032" cy="685800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3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621792" y="3319272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OrderController.create() → CreateOrderCommand → CreateOrderUseCase.execute()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3310128" y="1170432"/>
            <a:ext cx="2724912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3310128" y="1170432"/>
            <a:ext cx="2724912" cy="38404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3383280" y="1225296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📤  Presenter / ViewModel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3401568" y="1627632"/>
            <a:ext cx="25420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Não faz: </a:t>
            </a: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Não executa lógica de negócio. Não acessa banco.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3401568" y="2212848"/>
            <a:ext cx="254203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Papel: </a:t>
            </a:r>
            <a:r>
              <a:rPr lang="en-US" sz="9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Transforma o resultado do Use Case em formato para a interface (JSON, HTML, proto). Cada view tem seu Presenter.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3401568" y="3273552"/>
            <a:ext cx="2542032" cy="685800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3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3474720" y="3319272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OrderPresenter.toJSON(order) → { id, status, total, items: [...] }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6163056" y="1170432"/>
            <a:ext cx="2724912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6163056" y="1170432"/>
            <a:ext cx="2724912" cy="38404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6236208" y="1225296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🗄️  Repository Impl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6254496" y="1627632"/>
            <a:ext cx="25420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Não faz: </a:t>
            </a: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Não contém regra de negócio. Só persiste e recupera dados.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6254496" y="2212848"/>
            <a:ext cx="254203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Papel: </a:t>
            </a:r>
            <a:r>
              <a:rPr lang="en-US" sz="95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Implementa a interface definida no Domain. Traduz Domain Objects em registros de banco e vice-versa.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6254496" y="3273552"/>
            <a:ext cx="2542032" cy="685800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3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6327648" y="3319272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PostgresOrderRepository implements OrderRepository { save(order) → SQL INSERT }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Camada Frameworks </a:t>
            </a:r>
            <a:r>
              <a:rPr lang="en-US" sz="26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e</a:t>
            </a: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 Drivers — detalhes externos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camada mais externa — serve ao sistema, não o define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457200" y="1115568"/>
            <a:ext cx="8229600" cy="713232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594360" y="1170432"/>
            <a:ext cx="7955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"Frameworks são ferramentas, não formas de vida. Se você pode substituir o framework sem reescrever o negócio, a arquitetura está certa."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594360" y="1591056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Uncle Bob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457200" y="1956816"/>
            <a:ext cx="402336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457200" y="1956816"/>
            <a:ext cx="4023360" cy="329184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548640" y="19933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🌐  Web Frameworks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548640" y="2340864"/>
            <a:ext cx="384048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FastAPI, Django, Express, Spring MVC — roteiam requisições para Controllers. Não contêm lógica. Substituíveis sem tocar em Use Cases.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4663440" y="1956816"/>
            <a:ext cx="402336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4663440" y="1956816"/>
            <a:ext cx="4023360" cy="329184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4754880" y="19933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🗄️  ORMs e Bancos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4754880" y="2340864"/>
            <a:ext cx="384048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SQLAlchemy, Hibernate, Prisma, TypeORM — implementam os Repository Adapters. O Domain usa interfaces. Trocar Postgres por Mongo = trocar 1 adapter.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457200" y="3364992"/>
            <a:ext cx="402336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457200" y="3364992"/>
            <a:ext cx="4023360" cy="32918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548640" y="34015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📨  Mensageria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548640" y="3749040"/>
            <a:ext cx="384048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RabbitMQ, Kafka, SQS, Azure Service Bus — Publisher e Consumer são adapters. Domain Event publicado via interface. A fila é detalhe de entrega.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4663440" y="3364992"/>
            <a:ext cx="402336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4663440" y="3364992"/>
            <a:ext cx="4023360" cy="32918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4754880" y="34015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🔌  Serviços Externos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4754880" y="3749040"/>
            <a:ext cx="384048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APIs de pagamento, notificação, CEP, Auth — acessados via Gateway (adapter). Interface definida no Domain. Mock substituível em testes unitários.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Tabela de Responsabilidades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Onde colocar cada coisa — referência rápida para o dia a dia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3" name="Google Shape;483;p15"/>
          <p:cNvGraphicFramePr/>
          <p:nvPr/>
        </p:nvGraphicFramePr>
        <p:xfrm>
          <a:off x="45720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{CBA6F818-61C4-4843-A74E-6F79ABA1CD6E}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Responsabilidade</a:t>
                      </a:r>
                      <a:endParaRPr sz="10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Domain</a:t>
                      </a:r>
                      <a:endParaRPr sz="10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Use Case</a:t>
                      </a:r>
                      <a:endParaRPr sz="10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Adapter</a:t>
                      </a:r>
                      <a:endParaRPr sz="10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Framework</a:t>
                      </a:r>
                      <a:endParaRPr sz="10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Regra de negócio (pedido vazio)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Validação de invariante de domínio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Orquestração do fluxo do caso de uso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Chamar Repository para salvar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Verificar pré-condições de aplicação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Receber requisição HTTP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Executar query SQL / ORM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Formatar JSON de resposta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Configurar rotas e middlewares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Injetar dependências (DI container)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84" name="Google Shape;484;p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548640" y="4864608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💡  Teste: delete o arquivo do framework. O Domain ainda compila? Se sim — arquitetura correta.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4e4e47480_0_577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g3d4e4e47480_0_577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🏛️  Fluxo Completo de uma Requisição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d4e4e47480_0_577"/>
          <p:cNvSpPr/>
          <p:nvPr/>
        </p:nvSpPr>
        <p:spPr>
          <a:xfrm>
            <a:off x="457200" y="80467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 HTTP ao banco — cada camada com sua responsabilidade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d4e4e47480_0_577"/>
          <p:cNvSpPr/>
          <p:nvPr/>
        </p:nvSpPr>
        <p:spPr>
          <a:xfrm>
            <a:off x="457200" y="1042416"/>
            <a:ext cx="8229600" cy="2280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g3d4e4e47480_0_577"/>
          <p:cNvSpPr/>
          <p:nvPr/>
        </p:nvSpPr>
        <p:spPr>
          <a:xfrm>
            <a:off x="457200" y="4919472"/>
            <a:ext cx="6400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d4e4e47480_0_577"/>
          <p:cNvSpPr/>
          <p:nvPr/>
        </p:nvSpPr>
        <p:spPr>
          <a:xfrm>
            <a:off x="365760" y="1170432"/>
            <a:ext cx="1600200" cy="105150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3d4e4e47480_0_577"/>
          <p:cNvSpPr/>
          <p:nvPr/>
        </p:nvSpPr>
        <p:spPr>
          <a:xfrm>
            <a:off x="365760" y="1188720"/>
            <a:ext cx="1600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①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d4e4e47480_0_577"/>
          <p:cNvSpPr/>
          <p:nvPr/>
        </p:nvSpPr>
        <p:spPr>
          <a:xfrm>
            <a:off x="365760" y="148132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HTTP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Request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d4e4e47480_0_577"/>
          <p:cNvSpPr/>
          <p:nvPr/>
        </p:nvSpPr>
        <p:spPr>
          <a:xfrm>
            <a:off x="365760" y="1773936"/>
            <a:ext cx="1600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 /orders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user_id, items }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g3d4e4e47480_0_577"/>
          <p:cNvCxnSpPr/>
          <p:nvPr/>
        </p:nvCxnSpPr>
        <p:spPr>
          <a:xfrm>
            <a:off x="1965960" y="1691640"/>
            <a:ext cx="137100" cy="0"/>
          </a:xfrm>
          <a:prstGeom prst="straightConnector1">
            <a:avLst/>
          </a:prstGeom>
          <a:noFill/>
          <a:ln w="3175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6" name="Google Shape;536;g3d4e4e47480_0_577"/>
          <p:cNvSpPr/>
          <p:nvPr/>
        </p:nvSpPr>
        <p:spPr>
          <a:xfrm>
            <a:off x="2103120" y="1170432"/>
            <a:ext cx="1600200" cy="1051500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g3d4e4e47480_0_577"/>
          <p:cNvSpPr/>
          <p:nvPr/>
        </p:nvSpPr>
        <p:spPr>
          <a:xfrm>
            <a:off x="2103120" y="1188720"/>
            <a:ext cx="1600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②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d4e4e47480_0_577"/>
          <p:cNvSpPr/>
          <p:nvPr/>
        </p:nvSpPr>
        <p:spPr>
          <a:xfrm>
            <a:off x="2103120" y="148132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Controller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d4e4e47480_0_577"/>
          <p:cNvSpPr/>
          <p:nvPr/>
        </p:nvSpPr>
        <p:spPr>
          <a:xfrm>
            <a:off x="2103120" y="1773936"/>
            <a:ext cx="1600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Extrai dados →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CreateOrderCommand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g3d4e4e47480_0_577"/>
          <p:cNvCxnSpPr/>
          <p:nvPr/>
        </p:nvCxnSpPr>
        <p:spPr>
          <a:xfrm>
            <a:off x="3703320" y="1691640"/>
            <a:ext cx="137100" cy="0"/>
          </a:xfrm>
          <a:prstGeom prst="straightConnector1">
            <a:avLst/>
          </a:prstGeom>
          <a:noFill/>
          <a:ln w="3175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1" name="Google Shape;541;g3d4e4e47480_0_577"/>
          <p:cNvSpPr/>
          <p:nvPr/>
        </p:nvSpPr>
        <p:spPr>
          <a:xfrm>
            <a:off x="3840480" y="1170432"/>
            <a:ext cx="1600200" cy="10515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3d4e4e47480_0_577"/>
          <p:cNvSpPr/>
          <p:nvPr/>
        </p:nvSpPr>
        <p:spPr>
          <a:xfrm>
            <a:off x="3840480" y="1188720"/>
            <a:ext cx="1600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③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d4e4e47480_0_577"/>
          <p:cNvSpPr/>
          <p:nvPr/>
        </p:nvSpPr>
        <p:spPr>
          <a:xfrm>
            <a:off x="3840480" y="148132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Use Case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d4e4e47480_0_577"/>
          <p:cNvSpPr/>
          <p:nvPr/>
        </p:nvSpPr>
        <p:spPr>
          <a:xfrm>
            <a:off x="3840480" y="1773936"/>
            <a:ext cx="1600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Valida, chama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Domain, persiste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g3d4e4e47480_0_577"/>
          <p:cNvCxnSpPr/>
          <p:nvPr/>
        </p:nvCxnSpPr>
        <p:spPr>
          <a:xfrm>
            <a:off x="5440680" y="1691640"/>
            <a:ext cx="137100" cy="0"/>
          </a:xfrm>
          <a:prstGeom prst="straightConnector1">
            <a:avLst/>
          </a:prstGeom>
          <a:noFill/>
          <a:ln w="3175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6" name="Google Shape;546;g3d4e4e47480_0_577"/>
          <p:cNvSpPr/>
          <p:nvPr/>
        </p:nvSpPr>
        <p:spPr>
          <a:xfrm>
            <a:off x="5577840" y="1170432"/>
            <a:ext cx="1600200" cy="10515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g3d4e4e47480_0_577"/>
          <p:cNvSpPr/>
          <p:nvPr/>
        </p:nvSpPr>
        <p:spPr>
          <a:xfrm>
            <a:off x="5577840" y="1188720"/>
            <a:ext cx="1600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④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d4e4e47480_0_577"/>
          <p:cNvSpPr/>
          <p:nvPr/>
        </p:nvSpPr>
        <p:spPr>
          <a:xfrm>
            <a:off x="5577840" y="148132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Domain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d4e4e47480_0_577"/>
          <p:cNvSpPr/>
          <p:nvPr/>
        </p:nvSpPr>
        <p:spPr>
          <a:xfrm>
            <a:off x="5577840" y="1773936"/>
            <a:ext cx="1600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Order.confirm()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Dispara evento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0" name="Google Shape;550;g3d4e4e47480_0_577"/>
          <p:cNvCxnSpPr/>
          <p:nvPr/>
        </p:nvCxnSpPr>
        <p:spPr>
          <a:xfrm>
            <a:off x="7178040" y="1691640"/>
            <a:ext cx="137100" cy="0"/>
          </a:xfrm>
          <a:prstGeom prst="straightConnector1">
            <a:avLst/>
          </a:prstGeom>
          <a:noFill/>
          <a:ln w="3175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1" name="Google Shape;551;g3d4e4e47480_0_577"/>
          <p:cNvSpPr/>
          <p:nvPr/>
        </p:nvSpPr>
        <p:spPr>
          <a:xfrm>
            <a:off x="7315200" y="1170432"/>
            <a:ext cx="1600200" cy="10515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g3d4e4e47480_0_577"/>
          <p:cNvSpPr/>
          <p:nvPr/>
        </p:nvSpPr>
        <p:spPr>
          <a:xfrm>
            <a:off x="7315200" y="1188720"/>
            <a:ext cx="1600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⑤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d4e4e47480_0_577"/>
          <p:cNvSpPr/>
          <p:nvPr/>
        </p:nvSpPr>
        <p:spPr>
          <a:xfrm>
            <a:off x="7315200" y="148132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d4e4e47480_0_577"/>
          <p:cNvSpPr/>
          <p:nvPr/>
        </p:nvSpPr>
        <p:spPr>
          <a:xfrm>
            <a:off x="7315200" y="1773936"/>
            <a:ext cx="1600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save(order)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SQL INSERT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d4e4e47480_0_577"/>
          <p:cNvSpPr/>
          <p:nvPr/>
        </p:nvSpPr>
        <p:spPr>
          <a:xfrm>
            <a:off x="365760" y="2331720"/>
            <a:ext cx="8412600" cy="137100"/>
          </a:xfrm>
          <a:prstGeom prst="rect">
            <a:avLst/>
          </a:prstGeom>
          <a:solidFill>
            <a:srgbClr val="F05A28">
              <a:alpha val="34900"/>
            </a:srgbClr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g3d4e4e47480_0_577"/>
          <p:cNvSpPr/>
          <p:nvPr/>
        </p:nvSpPr>
        <p:spPr>
          <a:xfrm>
            <a:off x="365760" y="2487168"/>
            <a:ext cx="8412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RETORNO: ⑤ Result → ④ events → ③ Result → ② Presenter → ① HTTP 200 JSON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d4e4e47480_0_577"/>
          <p:cNvSpPr/>
          <p:nvPr/>
        </p:nvSpPr>
        <p:spPr>
          <a:xfrm>
            <a:off x="365760" y="2816352"/>
            <a:ext cx="4114800" cy="2742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3d4e4e47480_0_577"/>
          <p:cNvSpPr/>
          <p:nvPr/>
        </p:nvSpPr>
        <p:spPr>
          <a:xfrm>
            <a:off x="457200" y="2843784"/>
            <a:ext cx="39318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05A28"/>
                </a:solidFill>
                <a:latin typeface="Consolas"/>
                <a:ea typeface="Consolas"/>
                <a:cs typeface="Consolas"/>
                <a:sym typeface="Consolas"/>
              </a:rPr>
              <a:t># ② Controller (Adapter)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d4e4e47480_0_577"/>
          <p:cNvSpPr/>
          <p:nvPr/>
        </p:nvSpPr>
        <p:spPr>
          <a:xfrm>
            <a:off x="365760" y="3090672"/>
            <a:ext cx="4114800" cy="2011800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3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g3d4e4e47480_0_577"/>
          <p:cNvSpPr/>
          <p:nvPr/>
        </p:nvSpPr>
        <p:spPr>
          <a:xfrm>
            <a:off x="502920" y="3182112"/>
            <a:ext cx="3840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@router.post("/orders")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def create_order(body: OrderRequest):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cmd = CreateOrderCommand(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user_id=body.user_id,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items=body.items)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order = use_case.execute(cmd)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OrderPresenter.to_json(order)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d4e4e47480_0_577"/>
          <p:cNvSpPr/>
          <p:nvPr/>
        </p:nvSpPr>
        <p:spPr>
          <a:xfrm>
            <a:off x="4663440" y="2816352"/>
            <a:ext cx="4114800" cy="2742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g3d4e4e47480_0_577"/>
          <p:cNvSpPr/>
          <p:nvPr/>
        </p:nvSpPr>
        <p:spPr>
          <a:xfrm>
            <a:off x="4754880" y="2843784"/>
            <a:ext cx="39318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05A28"/>
                </a:solidFill>
                <a:latin typeface="Consolas"/>
                <a:ea typeface="Consolas"/>
                <a:cs typeface="Consolas"/>
                <a:sym typeface="Consolas"/>
              </a:rPr>
              <a:t># ③ Use Case (Application)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d4e4e47480_0_577"/>
          <p:cNvSpPr/>
          <p:nvPr/>
        </p:nvSpPr>
        <p:spPr>
          <a:xfrm>
            <a:off x="4663440" y="3090672"/>
            <a:ext cx="4114800" cy="2011800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3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g3d4e4e47480_0_577"/>
          <p:cNvSpPr/>
          <p:nvPr/>
        </p:nvSpPr>
        <p:spPr>
          <a:xfrm>
            <a:off x="4800600" y="3182112"/>
            <a:ext cx="3840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def execute(self, cmd):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order = Order(uuid4(),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      cmd.user_id, cmd.items)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order.confirm()       # ④ Domain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self.repo.save(order) # ⑤ Repo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self.events.publish(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OrderConfirmed(order.id))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order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4e4e47480_0_294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g3d4e4e47480_0_294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g3d4e4e47480_0_294"/>
          <p:cNvSpPr/>
          <p:nvPr/>
        </p:nvSpPr>
        <p:spPr>
          <a:xfrm>
            <a:off x="365760" y="118872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🗂️  Estrutura do Projeto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d4e4e47480_0_294"/>
          <p:cNvSpPr/>
          <p:nvPr/>
        </p:nvSpPr>
        <p:spPr>
          <a:xfrm>
            <a:off x="365760" y="594360"/>
            <a:ext cx="8412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arquivo tem responsabilidade única e bem definida (SRP)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d4e4e47480_0_294"/>
          <p:cNvSpPr/>
          <p:nvPr/>
        </p:nvSpPr>
        <p:spPr>
          <a:xfrm>
            <a:off x="365760" y="850392"/>
            <a:ext cx="8412600" cy="273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3d4e4e47480_0_294"/>
          <p:cNvSpPr/>
          <p:nvPr/>
        </p:nvSpPr>
        <p:spPr>
          <a:xfrm>
            <a:off x="365760" y="941832"/>
            <a:ext cx="8412600" cy="4572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g3d4e4e47480_0_294"/>
          <p:cNvSpPr/>
          <p:nvPr/>
        </p:nvSpPr>
        <p:spPr>
          <a:xfrm>
            <a:off x="530352" y="941832"/>
            <a:ext cx="811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💡  Uma pasta, 5 arquivos — cada um com uma única razão para mudar.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d4e4e47480_0_294"/>
          <p:cNvSpPr/>
          <p:nvPr/>
        </p:nvSpPr>
        <p:spPr>
          <a:xfrm>
            <a:off x="1115568" y="1664208"/>
            <a:ext cx="36600" cy="28803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3d4e4e47480_0_294"/>
          <p:cNvSpPr/>
          <p:nvPr/>
        </p:nvSpPr>
        <p:spPr>
          <a:xfrm>
            <a:off x="365760" y="1463040"/>
            <a:ext cx="658500" cy="3657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g3d4e4e47480_0_294"/>
          <p:cNvSpPr/>
          <p:nvPr/>
        </p:nvSpPr>
        <p:spPr>
          <a:xfrm>
            <a:off x="365760" y="1463040"/>
            <a:ext cx="658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core</a:t>
            </a:r>
            <a:r>
              <a:rPr lang="en-US" sz="1000" b="1" i="0" u="none" strike="noStrike" cap="non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d4e4e47480_0_294"/>
          <p:cNvSpPr/>
          <p:nvPr/>
        </p:nvSpPr>
        <p:spPr>
          <a:xfrm>
            <a:off x="987552" y="1728216"/>
            <a:ext cx="274200" cy="27420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3d4e4e47480_0_294"/>
          <p:cNvSpPr/>
          <p:nvPr/>
        </p:nvSpPr>
        <p:spPr>
          <a:xfrm>
            <a:off x="1417320" y="1536192"/>
            <a:ext cx="7315200" cy="5487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3d4e4e47480_0_294"/>
          <p:cNvSpPr/>
          <p:nvPr/>
        </p:nvSpPr>
        <p:spPr>
          <a:xfrm>
            <a:off x="1554480" y="1581912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🧠  domain.py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d4e4e47480_0_294"/>
          <p:cNvSpPr/>
          <p:nvPr/>
        </p:nvSpPr>
        <p:spPr>
          <a:xfrm>
            <a:off x="1554480" y="1828800"/>
            <a:ext cx="7041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Entidades e regras de negócio puras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d4e4e47480_0_294"/>
          <p:cNvSpPr/>
          <p:nvPr/>
        </p:nvSpPr>
        <p:spPr>
          <a:xfrm>
            <a:off x="987552" y="2386584"/>
            <a:ext cx="274200" cy="2742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3d4e4e47480_0_294"/>
          <p:cNvSpPr/>
          <p:nvPr/>
        </p:nvSpPr>
        <p:spPr>
          <a:xfrm>
            <a:off x="1417320" y="2194560"/>
            <a:ext cx="7315200" cy="5487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3d4e4e47480_0_294"/>
          <p:cNvSpPr/>
          <p:nvPr/>
        </p:nvSpPr>
        <p:spPr>
          <a:xfrm>
            <a:off x="1554480" y="2240280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⚙️  use_case.py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d4e4e47480_0_294"/>
          <p:cNvSpPr/>
          <p:nvPr/>
        </p:nvSpPr>
        <p:spPr>
          <a:xfrm>
            <a:off x="1554480" y="2487168"/>
            <a:ext cx="7041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Orquestração: sabe O QUÊ, não O COMO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d4e4e47480_0_294"/>
          <p:cNvSpPr/>
          <p:nvPr/>
        </p:nvSpPr>
        <p:spPr>
          <a:xfrm>
            <a:off x="987552" y="3044952"/>
            <a:ext cx="274200" cy="2742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3d4e4e47480_0_294"/>
          <p:cNvSpPr/>
          <p:nvPr/>
        </p:nvSpPr>
        <p:spPr>
          <a:xfrm>
            <a:off x="1417320" y="2852928"/>
            <a:ext cx="7315200" cy="5487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g3d4e4e47480_0_294"/>
          <p:cNvSpPr/>
          <p:nvPr/>
        </p:nvSpPr>
        <p:spPr>
          <a:xfrm>
            <a:off x="1554480" y="2898648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🗄️  repository.py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d4e4e47480_0_294"/>
          <p:cNvSpPr/>
          <p:nvPr/>
        </p:nvSpPr>
        <p:spPr>
          <a:xfrm>
            <a:off x="1554480" y="3145536"/>
            <a:ext cx="7041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Persistência — único arquivo com SQL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d4e4e47480_0_294"/>
          <p:cNvSpPr/>
          <p:nvPr/>
        </p:nvSpPr>
        <p:spPr>
          <a:xfrm>
            <a:off x="987552" y="3703320"/>
            <a:ext cx="274200" cy="2742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g3d4e4e47480_0_294"/>
          <p:cNvSpPr/>
          <p:nvPr/>
        </p:nvSpPr>
        <p:spPr>
          <a:xfrm>
            <a:off x="1417320" y="3511296"/>
            <a:ext cx="7315200" cy="5487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g3d4e4e47480_0_294"/>
          <p:cNvSpPr/>
          <p:nvPr/>
        </p:nvSpPr>
        <p:spPr>
          <a:xfrm>
            <a:off x="1554480" y="3557016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🎮  controller.py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d4e4e47480_0_294"/>
          <p:cNvSpPr/>
          <p:nvPr/>
        </p:nvSpPr>
        <p:spPr>
          <a:xfrm>
            <a:off x="1554480" y="3803904"/>
            <a:ext cx="7041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Interface HTTP: recebe request, devolve JSON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d4e4e47480_0_294"/>
          <p:cNvSpPr/>
          <p:nvPr/>
        </p:nvSpPr>
        <p:spPr>
          <a:xfrm>
            <a:off x="987552" y="4361688"/>
            <a:ext cx="274200" cy="274200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g3d4e4e47480_0_294"/>
          <p:cNvSpPr/>
          <p:nvPr/>
        </p:nvSpPr>
        <p:spPr>
          <a:xfrm>
            <a:off x="1417320" y="4169664"/>
            <a:ext cx="7315200" cy="5487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g3d4e4e47480_0_294"/>
          <p:cNvSpPr/>
          <p:nvPr/>
        </p:nvSpPr>
        <p:spPr>
          <a:xfrm>
            <a:off x="1554480" y="4215384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🔌  main.py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d4e4e47480_0_294"/>
          <p:cNvSpPr/>
          <p:nvPr/>
        </p:nvSpPr>
        <p:spPr>
          <a:xfrm>
            <a:off x="1554480" y="4462272"/>
            <a:ext cx="7041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Composition Root — monta as dependências (DI)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d4e4e47480_0_328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g3d4e4e47480_0_328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g3d4e4e47480_0_328"/>
          <p:cNvSpPr/>
          <p:nvPr/>
        </p:nvSpPr>
        <p:spPr>
          <a:xfrm>
            <a:off x="365760" y="118872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🧠  domain.py — O Coração da Arquitetura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d4e4e47480_0_328"/>
          <p:cNvSpPr/>
          <p:nvPr/>
        </p:nvSpPr>
        <p:spPr>
          <a:xfrm>
            <a:off x="365760" y="594360"/>
            <a:ext cx="8412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Regras de negócio sem banco, sem framework, sem HTTP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d4e4e47480_0_328"/>
          <p:cNvSpPr/>
          <p:nvPr/>
        </p:nvSpPr>
        <p:spPr>
          <a:xfrm>
            <a:off x="365760" y="850392"/>
            <a:ext cx="8412600" cy="273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g3d4e4e47480_0_328"/>
          <p:cNvSpPr/>
          <p:nvPr/>
        </p:nvSpPr>
        <p:spPr>
          <a:xfrm>
            <a:off x="365760" y="941832"/>
            <a:ext cx="8412600" cy="4572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3d4e4e47480_0_328"/>
          <p:cNvSpPr/>
          <p:nvPr/>
        </p:nvSpPr>
        <p:spPr>
          <a:xfrm>
            <a:off x="530352" y="941832"/>
            <a:ext cx="811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💡  O Domain é o único lugar onde a regra de negócio mora. ZERO dependências externas.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d4e4e47480_0_328"/>
          <p:cNvSpPr/>
          <p:nvPr/>
        </p:nvSpPr>
        <p:spPr>
          <a:xfrm>
            <a:off x="365760" y="1517904"/>
            <a:ext cx="5349300" cy="33468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13" name="Google Shape;613;g3d4e4e47480_0_328"/>
          <p:cNvSpPr/>
          <p:nvPr/>
        </p:nvSpPr>
        <p:spPr>
          <a:xfrm>
            <a:off x="365760" y="1517904"/>
            <a:ext cx="5349300" cy="2742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g3d4e4e47480_0_328"/>
          <p:cNvSpPr/>
          <p:nvPr/>
        </p:nvSpPr>
        <p:spPr>
          <a:xfrm>
            <a:off x="457200" y="1517904"/>
            <a:ext cx="5166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domain.py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d4e4e47480_0_328"/>
          <p:cNvSpPr/>
          <p:nvPr/>
        </p:nvSpPr>
        <p:spPr>
          <a:xfrm>
            <a:off x="475488" y="2649931"/>
            <a:ext cx="5129700" cy="1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alibri"/>
              <a:buNone/>
            </a:pPr>
            <a:endParaRPr sz="14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g3d4e4e47480_0_328"/>
          <p:cNvSpPr/>
          <p:nvPr/>
        </p:nvSpPr>
        <p:spPr>
          <a:xfrm>
            <a:off x="5833872" y="1517904"/>
            <a:ext cx="2944500" cy="100590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g3d4e4e47480_0_328"/>
          <p:cNvSpPr/>
          <p:nvPr/>
        </p:nvSpPr>
        <p:spPr>
          <a:xfrm>
            <a:off x="5833872" y="1517904"/>
            <a:ext cx="2944500" cy="310800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g3d4e4e47480_0_328"/>
          <p:cNvSpPr/>
          <p:nvPr/>
        </p:nvSpPr>
        <p:spPr>
          <a:xfrm>
            <a:off x="5943600" y="1517904"/>
            <a:ext cx="27615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Pode testar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d4e4e47480_0_328"/>
          <p:cNvSpPr/>
          <p:nvPr/>
        </p:nvSpPr>
        <p:spPr>
          <a:xfrm>
            <a:off x="5943600" y="1883664"/>
            <a:ext cx="2761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Sem banco, sem HTTP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Só instância Python pura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d4e4e47480_0_328"/>
          <p:cNvSpPr/>
          <p:nvPr/>
        </p:nvSpPr>
        <p:spPr>
          <a:xfrm>
            <a:off x="5833872" y="2633472"/>
            <a:ext cx="2944500" cy="10059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g3d4e4e47480_0_328"/>
          <p:cNvSpPr/>
          <p:nvPr/>
        </p:nvSpPr>
        <p:spPr>
          <a:xfrm>
            <a:off x="5833872" y="2633472"/>
            <a:ext cx="2944500" cy="3108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g3d4e4e47480_0_328"/>
          <p:cNvSpPr/>
          <p:nvPr/>
        </p:nvSpPr>
        <p:spPr>
          <a:xfrm>
            <a:off x="5943600" y="2633472"/>
            <a:ext cx="27615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🚫  Proibido aqui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d4e4e47480_0_328"/>
          <p:cNvSpPr/>
          <p:nvPr/>
        </p:nvSpPr>
        <p:spPr>
          <a:xfrm>
            <a:off x="5943600" y="2999232"/>
            <a:ext cx="2761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import psycopg2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import flask / fastapi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g3d4e4e47480_0_328"/>
          <p:cNvSpPr/>
          <p:nvPr/>
        </p:nvSpPr>
        <p:spPr>
          <a:xfrm>
            <a:off x="5833872" y="3749040"/>
            <a:ext cx="2944500" cy="100590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g3d4e4e47480_0_328"/>
          <p:cNvSpPr/>
          <p:nvPr/>
        </p:nvSpPr>
        <p:spPr>
          <a:xfrm>
            <a:off x="5833872" y="3749040"/>
            <a:ext cx="2944500" cy="3108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g3d4e4e47480_0_328"/>
          <p:cNvSpPr/>
          <p:nvPr/>
        </p:nvSpPr>
        <p:spPr>
          <a:xfrm>
            <a:off x="5943600" y="3749040"/>
            <a:ext cx="27615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Responsabilidade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d4e4e47480_0_328"/>
          <p:cNvSpPr/>
          <p:nvPr/>
        </p:nvSpPr>
        <p:spPr>
          <a:xfrm>
            <a:off x="5943600" y="4114800"/>
            <a:ext cx="2761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Validar e aplicar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as regras do negócio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d4e4e47480_0_328"/>
          <p:cNvSpPr/>
          <p:nvPr/>
        </p:nvSpPr>
        <p:spPr>
          <a:xfrm>
            <a:off x="530350" y="1910975"/>
            <a:ext cx="5129700" cy="25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Pedido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usuario_id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itens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C0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.usuario_id </a:t>
            </a:r>
            <a:r>
              <a:rPr lang="en-US" sz="12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usuario_id</a:t>
            </a:r>
            <a:endParaRPr sz="12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C0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.itens </a:t>
            </a:r>
            <a:r>
              <a:rPr lang="en-US" sz="12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itens</a:t>
            </a:r>
            <a:endParaRPr sz="12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C0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.status </a:t>
            </a:r>
            <a:r>
              <a:rPr lang="en-US" sz="12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"PENDENTE"</a:t>
            </a:r>
            <a:endParaRPr sz="1250">
              <a:solidFill>
                <a:srgbClr val="A5D6F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confirmar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C0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.itens:</a:t>
            </a:r>
            <a:endParaRPr sz="12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2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raise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"Pedido não pode ser vazio"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C0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.status </a:t>
            </a:r>
            <a:r>
              <a:rPr lang="en-US" sz="12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"CONFIRMADO"</a:t>
            </a:r>
            <a:endParaRPr sz="1250">
              <a:solidFill>
                <a:srgbClr val="A5D6F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endParaRPr sz="10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4e4e47480_0_492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g3d4e4e47480_0_492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g3d4e4e47480_0_492"/>
          <p:cNvSpPr/>
          <p:nvPr/>
        </p:nvSpPr>
        <p:spPr>
          <a:xfrm>
            <a:off x="365760" y="118872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🔌  main.py — Composition Root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d4e4e47480_0_492"/>
          <p:cNvSpPr/>
          <p:nvPr/>
        </p:nvSpPr>
        <p:spPr>
          <a:xfrm>
            <a:off x="365760" y="594360"/>
            <a:ext cx="8412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único lugar que conhece todas as camadas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d4e4e47480_0_492"/>
          <p:cNvSpPr/>
          <p:nvPr/>
        </p:nvSpPr>
        <p:spPr>
          <a:xfrm>
            <a:off x="365760" y="850392"/>
            <a:ext cx="8412600" cy="273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g3d4e4e47480_0_492"/>
          <p:cNvSpPr/>
          <p:nvPr/>
        </p:nvSpPr>
        <p:spPr>
          <a:xfrm>
            <a:off x="365760" y="941832"/>
            <a:ext cx="8412600" cy="4572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g3d4e4e47480_0_492"/>
          <p:cNvSpPr/>
          <p:nvPr/>
        </p:nvSpPr>
        <p:spPr>
          <a:xfrm>
            <a:off x="530352" y="941832"/>
            <a:ext cx="811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💡  main.py monta o sistema como LEGO. Cada peça não sabe de suas vizinhas.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g3d4e4e47480_0_492"/>
          <p:cNvSpPr/>
          <p:nvPr/>
        </p:nvSpPr>
        <p:spPr>
          <a:xfrm>
            <a:off x="365750" y="1517900"/>
            <a:ext cx="5349300" cy="34704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g3d4e4e47480_0_492"/>
          <p:cNvSpPr/>
          <p:nvPr/>
        </p:nvSpPr>
        <p:spPr>
          <a:xfrm>
            <a:off x="365760" y="1517904"/>
            <a:ext cx="5349300" cy="2742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g3d4e4e47480_0_492"/>
          <p:cNvSpPr/>
          <p:nvPr/>
        </p:nvSpPr>
        <p:spPr>
          <a:xfrm>
            <a:off x="457200" y="1517904"/>
            <a:ext cx="5166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main.py — montagem manual (Dependency Injection)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g3d4e4e47480_0_492"/>
          <p:cNvSpPr/>
          <p:nvPr/>
        </p:nvSpPr>
        <p:spPr>
          <a:xfrm>
            <a:off x="5833872" y="1627632"/>
            <a:ext cx="2944500" cy="804600"/>
          </a:xfrm>
          <a:prstGeom prst="rect">
            <a:avLst/>
          </a:prstGeom>
          <a:solidFill>
            <a:srgbClr val="F3E8FF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g3d4e4e47480_0_492"/>
          <p:cNvSpPr/>
          <p:nvPr/>
        </p:nvSpPr>
        <p:spPr>
          <a:xfrm>
            <a:off x="5943600" y="1682496"/>
            <a:ext cx="2761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PedidoRepository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d4e4e47480_0_492"/>
          <p:cNvSpPr/>
          <p:nvPr/>
        </p:nvSpPr>
        <p:spPr>
          <a:xfrm>
            <a:off x="5943600" y="2048256"/>
            <a:ext cx="2761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d4e4e47480_0_492"/>
          <p:cNvSpPr/>
          <p:nvPr/>
        </p:nvSpPr>
        <p:spPr>
          <a:xfrm>
            <a:off x="5833872" y="2596896"/>
            <a:ext cx="2944500" cy="80460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3d4e4e47480_0_492"/>
          <p:cNvSpPr/>
          <p:nvPr/>
        </p:nvSpPr>
        <p:spPr>
          <a:xfrm>
            <a:off x="5943600" y="2651760"/>
            <a:ext cx="2761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CriarPedidoUseCase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d4e4e47480_0_492"/>
          <p:cNvSpPr/>
          <p:nvPr/>
        </p:nvSpPr>
        <p:spPr>
          <a:xfrm>
            <a:off x="5943600" y="3017520"/>
            <a:ext cx="2761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recebe repository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d4e4e47480_0_492"/>
          <p:cNvSpPr/>
          <p:nvPr/>
        </p:nvSpPr>
        <p:spPr>
          <a:xfrm>
            <a:off x="5833872" y="3566160"/>
            <a:ext cx="2944500" cy="8046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g3d4e4e47480_0_492"/>
          <p:cNvSpPr/>
          <p:nvPr/>
        </p:nvSpPr>
        <p:spPr>
          <a:xfrm>
            <a:off x="5943600" y="3621024"/>
            <a:ext cx="2761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PedidoController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d4e4e47480_0_492"/>
          <p:cNvSpPr/>
          <p:nvPr/>
        </p:nvSpPr>
        <p:spPr>
          <a:xfrm>
            <a:off x="5943600" y="3986784"/>
            <a:ext cx="2761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recebe use_case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d4e4e47480_0_492"/>
          <p:cNvSpPr/>
          <p:nvPr/>
        </p:nvSpPr>
        <p:spPr>
          <a:xfrm>
            <a:off x="5833872" y="4645152"/>
            <a:ext cx="2944500" cy="27420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g3d4e4e47480_0_492"/>
          <p:cNvSpPr/>
          <p:nvPr/>
        </p:nvSpPr>
        <p:spPr>
          <a:xfrm>
            <a:off x="5943600" y="4645152"/>
            <a:ext cx="2761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🔺  montado de baixo para cima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3d4e4e47480_0_492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3d4e4e47480_0_492"/>
          <p:cNvSpPr/>
          <p:nvPr/>
        </p:nvSpPr>
        <p:spPr>
          <a:xfrm>
            <a:off x="530350" y="1910975"/>
            <a:ext cx="5129700" cy="25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controller </a:t>
            </a: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PedidoController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use_case </a:t>
            </a: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CriarPedidoUseCase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repository </a:t>
            </a: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PedidoRepository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montagem manual (DI)</a:t>
            </a:r>
            <a:endParaRPr sz="11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repository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PedidoRepository()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use_case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CriarPedidoUseCase(repository)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controller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PedidoController(use_case)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simulando uma requisição HTTP</a:t>
            </a:r>
            <a:endParaRPr sz="11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request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"usuario_id"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"u1"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"itens"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lang="en-US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"item1"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"item2"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response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controller.criar_pedido(request)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(response)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rgbClr val="FF7B7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endParaRPr sz="10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d4e4e47480_0_445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g3d4e4e47480_0_445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g3d4e4e47480_0_445"/>
          <p:cNvSpPr/>
          <p:nvPr/>
        </p:nvSpPr>
        <p:spPr>
          <a:xfrm>
            <a:off x="365760" y="118872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🎮  controller.py — A Borda do Sistema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d4e4e47480_0_445"/>
          <p:cNvSpPr/>
          <p:nvPr/>
        </p:nvSpPr>
        <p:spPr>
          <a:xfrm>
            <a:off x="365760" y="594360"/>
            <a:ext cx="8412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Só recebe request e devolve response. Sem regra, sem SQL.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d4e4e47480_0_445"/>
          <p:cNvSpPr/>
          <p:nvPr/>
        </p:nvSpPr>
        <p:spPr>
          <a:xfrm>
            <a:off x="365760" y="850392"/>
            <a:ext cx="8412600" cy="273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g3d4e4e47480_0_445"/>
          <p:cNvSpPr/>
          <p:nvPr/>
        </p:nvSpPr>
        <p:spPr>
          <a:xfrm>
            <a:off x="365760" y="941832"/>
            <a:ext cx="8412600" cy="4572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g3d4e4e47480_0_445"/>
          <p:cNvSpPr/>
          <p:nvPr/>
        </p:nvSpPr>
        <p:spPr>
          <a:xfrm>
            <a:off x="530352" y="941832"/>
            <a:ext cx="811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💡  Controller não pensa. Ele só traduz: HTTP → domínio → HTTP.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3d4e4e47480_0_445"/>
          <p:cNvSpPr/>
          <p:nvPr/>
        </p:nvSpPr>
        <p:spPr>
          <a:xfrm>
            <a:off x="365750" y="1517900"/>
            <a:ext cx="5120700" cy="34758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g3d4e4e47480_0_445"/>
          <p:cNvSpPr/>
          <p:nvPr/>
        </p:nvSpPr>
        <p:spPr>
          <a:xfrm>
            <a:off x="365760" y="1517904"/>
            <a:ext cx="5120700" cy="2742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g3d4e4e47480_0_445"/>
          <p:cNvSpPr/>
          <p:nvPr/>
        </p:nvSpPr>
        <p:spPr>
          <a:xfrm>
            <a:off x="457200" y="1517904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controller.py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g3d4e4e47480_0_445"/>
          <p:cNvSpPr/>
          <p:nvPr/>
        </p:nvSpPr>
        <p:spPr>
          <a:xfrm>
            <a:off x="5623560" y="1572768"/>
            <a:ext cx="3154800" cy="6036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g3d4e4e47480_0_445"/>
          <p:cNvSpPr/>
          <p:nvPr/>
        </p:nvSpPr>
        <p:spPr>
          <a:xfrm>
            <a:off x="5623560" y="1572768"/>
            <a:ext cx="31548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80"/>
              <a:buFont typeface="Consolas"/>
              <a:buNone/>
            </a:pPr>
            <a:r>
              <a:rPr lang="en-US" sz="980" b="0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request (dict / JSON)</a:t>
            </a:r>
            <a:endParaRPr sz="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g3d4e4e47480_0_445"/>
          <p:cNvSpPr/>
          <p:nvPr/>
        </p:nvSpPr>
        <p:spPr>
          <a:xfrm>
            <a:off x="5623560" y="2176272"/>
            <a:ext cx="3154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d4e4e47480_0_445"/>
          <p:cNvSpPr/>
          <p:nvPr/>
        </p:nvSpPr>
        <p:spPr>
          <a:xfrm>
            <a:off x="5623560" y="2377440"/>
            <a:ext cx="3154800" cy="6036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g3d4e4e47480_0_445"/>
          <p:cNvSpPr/>
          <p:nvPr/>
        </p:nvSpPr>
        <p:spPr>
          <a:xfrm>
            <a:off x="5623560" y="2377440"/>
            <a:ext cx="31548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80"/>
              <a:buFont typeface="Consolas"/>
              <a:buNone/>
            </a:pPr>
            <a:r>
              <a:rPr lang="en-US" sz="980" b="0" i="0" u="none" strike="noStrike" cap="non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controller.criar_pedido()</a:t>
            </a:r>
            <a:endParaRPr sz="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d4e4e47480_0_445"/>
          <p:cNvSpPr/>
          <p:nvPr/>
        </p:nvSpPr>
        <p:spPr>
          <a:xfrm>
            <a:off x="5623560" y="2980944"/>
            <a:ext cx="3154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3d4e4e47480_0_445"/>
          <p:cNvSpPr/>
          <p:nvPr/>
        </p:nvSpPr>
        <p:spPr>
          <a:xfrm>
            <a:off x="5623560" y="3182112"/>
            <a:ext cx="3154800" cy="6036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g3d4e4e47480_0_445"/>
          <p:cNvSpPr/>
          <p:nvPr/>
        </p:nvSpPr>
        <p:spPr>
          <a:xfrm>
            <a:off x="5623560" y="3182112"/>
            <a:ext cx="31548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80"/>
              <a:buFont typeface="Consolas"/>
              <a:buNone/>
            </a:pPr>
            <a:r>
              <a:rPr lang="en-US" sz="980" b="0" i="0" u="none" strike="noStrike" cap="non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use_case.executar()</a:t>
            </a:r>
            <a:endParaRPr sz="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g3d4e4e47480_0_445"/>
          <p:cNvSpPr/>
          <p:nvPr/>
        </p:nvSpPr>
        <p:spPr>
          <a:xfrm>
            <a:off x="5623560" y="3785616"/>
            <a:ext cx="3154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3d4e4e47480_0_445"/>
          <p:cNvSpPr/>
          <p:nvPr/>
        </p:nvSpPr>
        <p:spPr>
          <a:xfrm>
            <a:off x="5623560" y="3986784"/>
            <a:ext cx="3154800" cy="6036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g3d4e4e47480_0_445"/>
          <p:cNvSpPr/>
          <p:nvPr/>
        </p:nvSpPr>
        <p:spPr>
          <a:xfrm>
            <a:off x="5623560" y="3986784"/>
            <a:ext cx="31548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80"/>
              <a:buFont typeface="Consolas"/>
              <a:buNone/>
            </a:pPr>
            <a:r>
              <a:rPr lang="en-US" sz="980" b="0" i="0" u="none" strike="noStrike" cap="non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return {status: ...}</a:t>
            </a:r>
            <a:endParaRPr sz="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d4e4e47480_0_445"/>
          <p:cNvSpPr/>
          <p:nvPr/>
        </p:nvSpPr>
        <p:spPr>
          <a:xfrm>
            <a:off x="5623560" y="4590288"/>
            <a:ext cx="31548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g3d4e4e47480_0_445"/>
          <p:cNvSpPr/>
          <p:nvPr/>
        </p:nvSpPr>
        <p:spPr>
          <a:xfrm>
            <a:off x="5623560" y="4590288"/>
            <a:ext cx="31548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g3d4e4e47480_0_445"/>
          <p:cNvSpPr/>
          <p:nvPr/>
        </p:nvSpPr>
        <p:spPr>
          <a:xfrm>
            <a:off x="5623560" y="4590288"/>
            <a:ext cx="31548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g3d4e4e47480_0_445"/>
          <p:cNvSpPr/>
          <p:nvPr/>
        </p:nvSpPr>
        <p:spPr>
          <a:xfrm>
            <a:off x="5623560" y="3840480"/>
            <a:ext cx="3154800" cy="2742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g3d4e4e47480_0_445"/>
          <p:cNvSpPr/>
          <p:nvPr/>
        </p:nvSpPr>
        <p:spPr>
          <a:xfrm>
            <a:off x="5742432" y="3840480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Sem import psycopg2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d4e4e47480_0_445"/>
          <p:cNvSpPr/>
          <p:nvPr/>
        </p:nvSpPr>
        <p:spPr>
          <a:xfrm>
            <a:off x="5623560" y="4169664"/>
            <a:ext cx="3154800" cy="2742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g3d4e4e47480_0_445"/>
          <p:cNvSpPr/>
          <p:nvPr/>
        </p:nvSpPr>
        <p:spPr>
          <a:xfrm>
            <a:off x="5742432" y="4169664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Sem lógica de negócio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d4e4e47480_0_445"/>
          <p:cNvSpPr/>
          <p:nvPr/>
        </p:nvSpPr>
        <p:spPr>
          <a:xfrm>
            <a:off x="5623560" y="4498848"/>
            <a:ext cx="3154800" cy="2742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g3d4e4e47480_0_445"/>
          <p:cNvSpPr/>
          <p:nvPr/>
        </p:nvSpPr>
        <p:spPr>
          <a:xfrm>
            <a:off x="5742432" y="4498848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Sem acesso direto ao Domain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d4e4e47480_0_445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3d4e4e47480_0_445"/>
          <p:cNvSpPr/>
          <p:nvPr/>
        </p:nvSpPr>
        <p:spPr>
          <a:xfrm>
            <a:off x="530350" y="1910975"/>
            <a:ext cx="5129700" cy="25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PedidoController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use_case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15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.use_case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use_case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criar_pedido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usuario_id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request[</a:t>
            </a:r>
            <a:r>
              <a:rPr lang="en-US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"usuario_id"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itens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request[</a:t>
            </a:r>
            <a:r>
              <a:rPr lang="en-US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"itens"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pedido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.use_case.executar(usuario_id, itens)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1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"status"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 pedido.status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rgbClr val="FF7B7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endParaRPr sz="10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d4e4e47480_0_368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g3d4e4e47480_0_368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g3d4e4e47480_0_368"/>
          <p:cNvSpPr/>
          <p:nvPr/>
        </p:nvSpPr>
        <p:spPr>
          <a:xfrm>
            <a:off x="365760" y="118872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⚙️  use_case.py — Quem Orquestra a Regra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3d4e4e47480_0_368"/>
          <p:cNvSpPr/>
          <p:nvPr/>
        </p:nvSpPr>
        <p:spPr>
          <a:xfrm>
            <a:off x="365760" y="594360"/>
            <a:ext cx="8412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Sabe o QUÊ fazer — não sabe o COMO salvar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g3d4e4e47480_0_368"/>
          <p:cNvSpPr/>
          <p:nvPr/>
        </p:nvSpPr>
        <p:spPr>
          <a:xfrm>
            <a:off x="365760" y="850392"/>
            <a:ext cx="8412600" cy="273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g3d4e4e47480_0_368"/>
          <p:cNvSpPr/>
          <p:nvPr/>
        </p:nvSpPr>
        <p:spPr>
          <a:xfrm>
            <a:off x="365760" y="941832"/>
            <a:ext cx="8412600" cy="4572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g3d4e4e47480_0_368"/>
          <p:cNvSpPr/>
          <p:nvPr/>
        </p:nvSpPr>
        <p:spPr>
          <a:xfrm>
            <a:off x="530352" y="941832"/>
            <a:ext cx="811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💡  Use Case depende de uma abstração (repository), nunca de uma implementação concreta.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d4e4e47480_0_368"/>
          <p:cNvSpPr/>
          <p:nvPr/>
        </p:nvSpPr>
        <p:spPr>
          <a:xfrm>
            <a:off x="365750" y="1517900"/>
            <a:ext cx="8412600" cy="28305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g3d4e4e47480_0_368"/>
          <p:cNvSpPr/>
          <p:nvPr/>
        </p:nvSpPr>
        <p:spPr>
          <a:xfrm>
            <a:off x="365760" y="1517904"/>
            <a:ext cx="8412600" cy="2742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g3d4e4e47480_0_368"/>
          <p:cNvSpPr/>
          <p:nvPr/>
        </p:nvSpPr>
        <p:spPr>
          <a:xfrm>
            <a:off x="457200" y="151790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use_case.py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g3d4e4e47480_0_368"/>
          <p:cNvSpPr/>
          <p:nvPr/>
        </p:nvSpPr>
        <p:spPr>
          <a:xfrm>
            <a:off x="438900" y="4453150"/>
            <a:ext cx="1938600" cy="4572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g3d4e4e47480_0_368"/>
          <p:cNvSpPr/>
          <p:nvPr/>
        </p:nvSpPr>
        <p:spPr>
          <a:xfrm>
            <a:off x="438900" y="4453150"/>
            <a:ext cx="193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chama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3d4e4e47480_0_368"/>
          <p:cNvSpPr/>
          <p:nvPr/>
        </p:nvSpPr>
        <p:spPr>
          <a:xfrm>
            <a:off x="2377428" y="4453150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d4e4e47480_0_368"/>
          <p:cNvSpPr/>
          <p:nvPr/>
        </p:nvSpPr>
        <p:spPr>
          <a:xfrm>
            <a:off x="2560308" y="4453150"/>
            <a:ext cx="1938600" cy="4572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g3d4e4e47480_0_368"/>
          <p:cNvSpPr/>
          <p:nvPr/>
        </p:nvSpPr>
        <p:spPr>
          <a:xfrm>
            <a:off x="2560308" y="4453150"/>
            <a:ext cx="193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orquestra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g3d4e4e47480_0_368"/>
          <p:cNvSpPr/>
          <p:nvPr/>
        </p:nvSpPr>
        <p:spPr>
          <a:xfrm>
            <a:off x="4498837" y="4453150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g3d4e4e47480_0_368"/>
          <p:cNvSpPr/>
          <p:nvPr/>
        </p:nvSpPr>
        <p:spPr>
          <a:xfrm>
            <a:off x="4681717" y="4453150"/>
            <a:ext cx="1938600" cy="4572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g3d4e4e47480_0_368"/>
          <p:cNvSpPr/>
          <p:nvPr/>
        </p:nvSpPr>
        <p:spPr>
          <a:xfrm>
            <a:off x="4681717" y="4453150"/>
            <a:ext cx="193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valida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g3d4e4e47480_0_368"/>
          <p:cNvSpPr/>
          <p:nvPr/>
        </p:nvSpPr>
        <p:spPr>
          <a:xfrm>
            <a:off x="6620245" y="4453150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g3d4e4e47480_0_368"/>
          <p:cNvSpPr/>
          <p:nvPr/>
        </p:nvSpPr>
        <p:spPr>
          <a:xfrm>
            <a:off x="6803125" y="4453150"/>
            <a:ext cx="1938600" cy="45720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g3d4e4e47480_0_368"/>
          <p:cNvSpPr/>
          <p:nvPr/>
        </p:nvSpPr>
        <p:spPr>
          <a:xfrm>
            <a:off x="6803125" y="4453150"/>
            <a:ext cx="193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persiste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g3d4e4e47480_0_368"/>
          <p:cNvSpPr/>
          <p:nvPr/>
        </p:nvSpPr>
        <p:spPr>
          <a:xfrm>
            <a:off x="530350" y="1910975"/>
            <a:ext cx="5116800" cy="21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domain </a:t>
            </a: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Pedido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CriarPedidoUseCase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repository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15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.repository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repository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executar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usuario_id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itens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pedido </a:t>
            </a:r>
            <a:r>
              <a:rPr lang="en-US" sz="11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Pedido(usuario_id, itens)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pedido.confirmar()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15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.repository.salvar(pedido)</a:t>
            </a: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1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1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pedido</a:t>
            </a:r>
            <a:endParaRPr sz="11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d4e4e47480_0_404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g3d4e4e47480_0_404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g3d4e4e47480_0_404"/>
          <p:cNvSpPr/>
          <p:nvPr/>
        </p:nvSpPr>
        <p:spPr>
          <a:xfrm>
            <a:off x="365760" y="118872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🗄️  repository.py — O Único Lugar com SQL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d4e4e47480_0_404"/>
          <p:cNvSpPr/>
          <p:nvPr/>
        </p:nvSpPr>
        <p:spPr>
          <a:xfrm>
            <a:off x="365760" y="594360"/>
            <a:ext cx="8412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Isolamento total: trocar PostgreSQL não afeta nada mais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d4e4e47480_0_404"/>
          <p:cNvSpPr/>
          <p:nvPr/>
        </p:nvSpPr>
        <p:spPr>
          <a:xfrm>
            <a:off x="365760" y="850392"/>
            <a:ext cx="8412600" cy="273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g3d4e4e47480_0_404"/>
          <p:cNvSpPr/>
          <p:nvPr/>
        </p:nvSpPr>
        <p:spPr>
          <a:xfrm>
            <a:off x="365760" y="941832"/>
            <a:ext cx="8412600" cy="4572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g3d4e4e47480_0_404"/>
          <p:cNvSpPr/>
          <p:nvPr/>
        </p:nvSpPr>
        <p:spPr>
          <a:xfrm>
            <a:off x="530352" y="941832"/>
            <a:ext cx="811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💡  Se o SQL está aqui — e só aqui — trocar o banco é editar UM único arquivo.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d4e4e47480_0_404"/>
          <p:cNvSpPr/>
          <p:nvPr/>
        </p:nvSpPr>
        <p:spPr>
          <a:xfrm>
            <a:off x="365760" y="1517904"/>
            <a:ext cx="5349300" cy="33468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g3d4e4e47480_0_404"/>
          <p:cNvSpPr/>
          <p:nvPr/>
        </p:nvSpPr>
        <p:spPr>
          <a:xfrm>
            <a:off x="365760" y="1517904"/>
            <a:ext cx="5349300" cy="2742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g3d4e4e47480_0_404"/>
          <p:cNvSpPr/>
          <p:nvPr/>
        </p:nvSpPr>
        <p:spPr>
          <a:xfrm>
            <a:off x="457200" y="1517904"/>
            <a:ext cx="5166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repository.py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d4e4e47480_0_404"/>
          <p:cNvSpPr/>
          <p:nvPr/>
        </p:nvSpPr>
        <p:spPr>
          <a:xfrm>
            <a:off x="5833872" y="1517904"/>
            <a:ext cx="2944500" cy="1005900"/>
          </a:xfrm>
          <a:prstGeom prst="rect">
            <a:avLst/>
          </a:prstGeom>
          <a:solidFill>
            <a:srgbClr val="F3E8FF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g3d4e4e47480_0_404"/>
          <p:cNvSpPr/>
          <p:nvPr/>
        </p:nvSpPr>
        <p:spPr>
          <a:xfrm>
            <a:off x="5833872" y="1517904"/>
            <a:ext cx="2944500" cy="3108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g3d4e4e47480_0_404"/>
          <p:cNvSpPr/>
          <p:nvPr/>
        </p:nvSpPr>
        <p:spPr>
          <a:xfrm>
            <a:off x="5943600" y="1517904"/>
            <a:ext cx="27615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 SQL isolado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d4e4e47480_0_404"/>
          <p:cNvSpPr/>
          <p:nvPr/>
        </p:nvSpPr>
        <p:spPr>
          <a:xfrm>
            <a:off x="5943600" y="1883664"/>
            <a:ext cx="2761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Nenhuma camada acima sabe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 existe psycopg2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g3d4e4e47480_0_404"/>
          <p:cNvSpPr/>
          <p:nvPr/>
        </p:nvSpPr>
        <p:spPr>
          <a:xfrm>
            <a:off x="5833872" y="2633472"/>
            <a:ext cx="2944500" cy="100590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g3d4e4e47480_0_404"/>
          <p:cNvSpPr/>
          <p:nvPr/>
        </p:nvSpPr>
        <p:spPr>
          <a:xfrm>
            <a:off x="5833872" y="2633472"/>
            <a:ext cx="2944500" cy="3108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g3d4e4e47480_0_404"/>
          <p:cNvSpPr/>
          <p:nvPr/>
        </p:nvSpPr>
        <p:spPr>
          <a:xfrm>
            <a:off x="5943600" y="2633472"/>
            <a:ext cx="27615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 Substituível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d4e4e47480_0_404"/>
          <p:cNvSpPr/>
          <p:nvPr/>
        </p:nvSpPr>
        <p:spPr>
          <a:xfrm>
            <a:off x="5943600" y="2999232"/>
            <a:ext cx="2761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Trocar por SQLAlchemy, MongoDB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 Redis: só este arquivo muda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d4e4e47480_0_404"/>
          <p:cNvSpPr/>
          <p:nvPr/>
        </p:nvSpPr>
        <p:spPr>
          <a:xfrm>
            <a:off x="5833872" y="3749040"/>
            <a:ext cx="2944500" cy="100590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g3d4e4e47480_0_404"/>
          <p:cNvSpPr/>
          <p:nvPr/>
        </p:nvSpPr>
        <p:spPr>
          <a:xfrm>
            <a:off x="5833872" y="3749040"/>
            <a:ext cx="2944500" cy="310800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g3d4e4e47480_0_404"/>
          <p:cNvSpPr/>
          <p:nvPr/>
        </p:nvSpPr>
        <p:spPr>
          <a:xfrm>
            <a:off x="5943600" y="3749040"/>
            <a:ext cx="27615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🧪  Mockável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g3d4e4e47480_0_404"/>
          <p:cNvSpPr/>
          <p:nvPr/>
        </p:nvSpPr>
        <p:spPr>
          <a:xfrm>
            <a:off x="5943600" y="4114800"/>
            <a:ext cx="2761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FakeRepository tem o mesmo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contrato sem precisar de banco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d4e4e47480_0_404"/>
          <p:cNvSpPr/>
          <p:nvPr/>
        </p:nvSpPr>
        <p:spPr>
          <a:xfrm>
            <a:off x="530350" y="1910975"/>
            <a:ext cx="5129700" cy="25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psycopg2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PedidoRepository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salvar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pedido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conn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psycopg2.connect(</a:t>
            </a:r>
            <a:r>
              <a:rPr lang="en-US" sz="9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"postgresql://user:pass@localhost/db"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cursor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conn.cursor()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9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"INSERT INTO pedidos (usuario_id, status) VALUES (</a:t>
            </a:r>
            <a:r>
              <a:rPr lang="en-US" sz="9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%s</a:t>
            </a:r>
            <a:r>
              <a:rPr lang="en-US" sz="9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9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%s</a:t>
            </a:r>
            <a:r>
              <a:rPr lang="en-US" sz="9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)"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    (pedido.usuario_id, pedido.status)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conn.commit()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conn.close()</a:t>
            </a:r>
            <a:endParaRPr sz="9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FF7B7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endParaRPr sz="9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d4e4e47480_0_532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g3d4e4e47480_0_532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g3d4e4e47480_0_532"/>
          <p:cNvSpPr/>
          <p:nvPr/>
        </p:nvSpPr>
        <p:spPr>
          <a:xfrm>
            <a:off x="365760" y="118872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🧪  Testabilidade — O Pulo do Gato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d4e4e47480_0_532"/>
          <p:cNvSpPr/>
          <p:nvPr/>
        </p:nvSpPr>
        <p:spPr>
          <a:xfrm>
            <a:off x="365760" y="594360"/>
            <a:ext cx="8412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FakeRepository: testa tudo sem banco, em milissegundos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3d4e4e47480_0_532"/>
          <p:cNvSpPr/>
          <p:nvPr/>
        </p:nvSpPr>
        <p:spPr>
          <a:xfrm>
            <a:off x="365760" y="850392"/>
            <a:ext cx="8412600" cy="273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g3d4e4e47480_0_532"/>
          <p:cNvSpPr/>
          <p:nvPr/>
        </p:nvSpPr>
        <p:spPr>
          <a:xfrm>
            <a:off x="365760" y="941832"/>
            <a:ext cx="8412600" cy="4572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g3d4e4e47480_0_532"/>
          <p:cNvSpPr/>
          <p:nvPr/>
        </p:nvSpPr>
        <p:spPr>
          <a:xfrm>
            <a:off x="530352" y="941832"/>
            <a:ext cx="811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💡  Se você precisa de banco pra testar sua regra, sua arquitetura está errada.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d4e4e47480_0_532"/>
          <p:cNvSpPr/>
          <p:nvPr/>
        </p:nvSpPr>
        <p:spPr>
          <a:xfrm>
            <a:off x="365760" y="1517904"/>
            <a:ext cx="5120700" cy="33468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g3d4e4e47480_0_532"/>
          <p:cNvSpPr/>
          <p:nvPr/>
        </p:nvSpPr>
        <p:spPr>
          <a:xfrm>
            <a:off x="365760" y="1517904"/>
            <a:ext cx="5120700" cy="2742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g3d4e4e47480_0_532"/>
          <p:cNvSpPr/>
          <p:nvPr/>
        </p:nvSpPr>
        <p:spPr>
          <a:xfrm>
            <a:off x="457200" y="1517904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test_pedido.py — sem banco, sem mágica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d4e4e47480_0_532"/>
          <p:cNvSpPr/>
          <p:nvPr/>
        </p:nvSpPr>
        <p:spPr>
          <a:xfrm>
            <a:off x="475488" y="1837944"/>
            <a:ext cx="4901100" cy="1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lang="en-US" sz="82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mesmo contrato, implementação em memória</a:t>
            </a:r>
            <a:endParaRPr sz="8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d4e4e47480_0_532"/>
          <p:cNvSpPr/>
          <p:nvPr/>
        </p:nvSpPr>
        <p:spPr>
          <a:xfrm>
            <a:off x="5687568" y="1517904"/>
            <a:ext cx="3090600" cy="10974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g3d4e4e47480_0_532"/>
          <p:cNvSpPr/>
          <p:nvPr/>
        </p:nvSpPr>
        <p:spPr>
          <a:xfrm>
            <a:off x="5687568" y="1517904"/>
            <a:ext cx="3090600" cy="3108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g3d4e4e47480_0_532"/>
          <p:cNvSpPr/>
          <p:nvPr/>
        </p:nvSpPr>
        <p:spPr>
          <a:xfrm>
            <a:off x="5797296" y="1517904"/>
            <a:ext cx="2907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banco real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d4e4e47480_0_532"/>
          <p:cNvSpPr/>
          <p:nvPr/>
        </p:nvSpPr>
        <p:spPr>
          <a:xfrm>
            <a:off x="5797296" y="1865376"/>
            <a:ext cx="2907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~2 000 ms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d4e4e47480_0_532"/>
          <p:cNvSpPr/>
          <p:nvPr/>
        </p:nvSpPr>
        <p:spPr>
          <a:xfrm>
            <a:off x="5797296" y="2286000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depende de conexão, dados, schema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d4e4e47480_0_532"/>
          <p:cNvSpPr/>
          <p:nvPr/>
        </p:nvSpPr>
        <p:spPr>
          <a:xfrm>
            <a:off x="5687568" y="2724912"/>
            <a:ext cx="3090600" cy="109740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g3d4e4e47480_0_532"/>
          <p:cNvSpPr/>
          <p:nvPr/>
        </p:nvSpPr>
        <p:spPr>
          <a:xfrm>
            <a:off x="5687568" y="2724912"/>
            <a:ext cx="3090600" cy="310800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g3d4e4e47480_0_532"/>
          <p:cNvSpPr/>
          <p:nvPr/>
        </p:nvSpPr>
        <p:spPr>
          <a:xfrm>
            <a:off x="5797296" y="2724912"/>
            <a:ext cx="2907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FakeRepository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d4e4e47480_0_532"/>
          <p:cNvSpPr/>
          <p:nvPr/>
        </p:nvSpPr>
        <p:spPr>
          <a:xfrm>
            <a:off x="5797296" y="3072384"/>
            <a:ext cx="2907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~3 ms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d4e4e47480_0_532"/>
          <p:cNvSpPr/>
          <p:nvPr/>
        </p:nvSpPr>
        <p:spPr>
          <a:xfrm>
            <a:off x="5797296" y="3493008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só Python na memória — instantâneo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d4e4e47480_0_532"/>
          <p:cNvSpPr/>
          <p:nvPr/>
        </p:nvSpPr>
        <p:spPr>
          <a:xfrm>
            <a:off x="5687568" y="3785616"/>
            <a:ext cx="3090600" cy="11157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g3d4e4e47480_0_532"/>
          <p:cNvSpPr/>
          <p:nvPr/>
        </p:nvSpPr>
        <p:spPr>
          <a:xfrm>
            <a:off x="5687568" y="3785616"/>
            <a:ext cx="3090600" cy="3108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g3d4e4e47480_0_532"/>
          <p:cNvSpPr/>
          <p:nvPr/>
        </p:nvSpPr>
        <p:spPr>
          <a:xfrm>
            <a:off x="5797296" y="3785616"/>
            <a:ext cx="2907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Dependency Inversion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g3d4e4e47480_0_532"/>
          <p:cNvSpPr/>
          <p:nvPr/>
        </p:nvSpPr>
        <p:spPr>
          <a:xfrm>
            <a:off x="5797296" y="4133088"/>
            <a:ext cx="29079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Case depende de uma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abstração — não de PostgreSQL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 qualquer impl concreta.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3d4e4e47480_0_532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g3d4e4e47480_0_532"/>
          <p:cNvSpPr/>
          <p:nvPr/>
        </p:nvSpPr>
        <p:spPr>
          <a:xfrm>
            <a:off x="530350" y="2011900"/>
            <a:ext cx="5129700" cy="25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FakeRepository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1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150">
                <a:solidFill>
                  <a:srgbClr val="79C0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.salvos </a:t>
            </a:r>
            <a:r>
              <a:rPr lang="en-US" sz="11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[]</a:t>
            </a:r>
            <a:endParaRPr sz="11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salvar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1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pedido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150">
                <a:solidFill>
                  <a:srgbClr val="79C0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.salvos.append(pedido)</a:t>
            </a:r>
            <a:endParaRPr sz="11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test_criar_pedido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11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repo </a:t>
            </a:r>
            <a:r>
              <a:rPr lang="en-US" sz="11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FakeRepository()</a:t>
            </a:r>
            <a:endParaRPr sz="11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use_case </a:t>
            </a:r>
            <a:r>
              <a:rPr lang="en-US" sz="11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CriarPedidoUseCase(repo)</a:t>
            </a:r>
            <a:endParaRPr sz="11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pedido </a:t>
            </a:r>
            <a:r>
              <a:rPr lang="en-US" sz="11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use_case.executar(</a:t>
            </a:r>
            <a:r>
              <a:rPr lang="en-US" sz="11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"u1"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[</a:t>
            </a:r>
            <a:r>
              <a:rPr lang="en-US" sz="11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"item1"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pedido.status </a:t>
            </a:r>
            <a:r>
              <a:rPr lang="en-US" sz="11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"CONFIRMADO"</a:t>
            </a:r>
            <a:endParaRPr sz="1150">
              <a:solidFill>
                <a:srgbClr val="A5D6F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1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(repo.salvos) </a:t>
            </a:r>
            <a:r>
              <a:rPr lang="en-US" sz="11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11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150">
              <a:solidFill>
                <a:srgbClr val="B5CEA8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endParaRPr sz="10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4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8" name="Google Shape;1468;p44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📚  Referências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44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Toda a bibliografia citada nesta unidade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44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05A28"/>
          </a:solidFill>
          <a:ln w="12700" cap="flat" cmpd="sng">
            <a:solidFill>
              <a:srgbClr val="F05A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44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2  •  Engenharia de Software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44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p44"/>
          <p:cNvSpPr/>
          <p:nvPr/>
        </p:nvSpPr>
        <p:spPr>
          <a:xfrm>
            <a:off x="566928" y="1197864"/>
            <a:ext cx="80101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Livros Fundamentais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44"/>
          <p:cNvSpPr/>
          <p:nvPr/>
        </p:nvSpPr>
        <p:spPr>
          <a:xfrm>
            <a:off x="457200" y="1463040"/>
            <a:ext cx="8229600" cy="18836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5" name="Google Shape;1475;p44"/>
          <p:cNvSpPr/>
          <p:nvPr/>
        </p:nvSpPr>
        <p:spPr>
          <a:xfrm>
            <a:off x="566928" y="1572768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Martin, R.C. (2017). Clean Architecture: A Craftsman's Guide. Prentice Hall.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44"/>
          <p:cNvSpPr/>
          <p:nvPr/>
        </p:nvSpPr>
        <p:spPr>
          <a:xfrm>
            <a:off x="566928" y="1920240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Martin, R.C. (2008). Clean Code: A Handbook of Agile Software Craftsmanship. Prentice Hall.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44"/>
          <p:cNvSpPr/>
          <p:nvPr/>
        </p:nvSpPr>
        <p:spPr>
          <a:xfrm>
            <a:off x="566928" y="2267712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Evans, E. (2003). Domain-Driven Design: Tackling Complexity. Addison-Wesley.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44"/>
          <p:cNvSpPr/>
          <p:nvPr/>
        </p:nvSpPr>
        <p:spPr>
          <a:xfrm>
            <a:off x="566928" y="2615184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Vernon, V. (2013). Implementing Domain-Driven Design. Addison-Wesley.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44"/>
          <p:cNvSpPr/>
          <p:nvPr/>
        </p:nvSpPr>
        <p:spPr>
          <a:xfrm>
            <a:off x="566928" y="2962656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Percival, H. &amp; Gregory, B. (2020). Architecture Patterns with Python. O'Reilly.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44"/>
          <p:cNvSpPr/>
          <p:nvPr/>
        </p:nvSpPr>
        <p:spPr>
          <a:xfrm>
            <a:off x="457200" y="3255264"/>
            <a:ext cx="8229600" cy="292608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44"/>
          <p:cNvSpPr/>
          <p:nvPr/>
        </p:nvSpPr>
        <p:spPr>
          <a:xfrm>
            <a:off x="566928" y="3282696"/>
            <a:ext cx="80101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Artigos e Recursos Online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44"/>
          <p:cNvSpPr/>
          <p:nvPr/>
        </p:nvSpPr>
        <p:spPr>
          <a:xfrm>
            <a:off x="457200" y="3547872"/>
            <a:ext cx="8229600" cy="18836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44"/>
          <p:cNvSpPr/>
          <p:nvPr/>
        </p:nvSpPr>
        <p:spPr>
          <a:xfrm>
            <a:off x="566928" y="3657600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Martin, R.C. (2000). Design Principles and Design Patterns. objectmentor.com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44"/>
          <p:cNvSpPr/>
          <p:nvPr/>
        </p:nvSpPr>
        <p:spPr>
          <a:xfrm>
            <a:off x="566928" y="4005072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Martin, R.C. (2012). The Clean Architecture. blog.cleancoder.com/uncle-bob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44"/>
          <p:cNvSpPr/>
          <p:nvPr/>
        </p:nvSpPr>
        <p:spPr>
          <a:xfrm>
            <a:off x="566928" y="4352544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Fowler, M. (2004). Inversion of Control Containers and DI. martinfowler.com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44"/>
          <p:cNvSpPr/>
          <p:nvPr/>
        </p:nvSpPr>
        <p:spPr>
          <a:xfrm>
            <a:off x="566928" y="4700016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Cockburn, A. (2005). Hexagonal Architecture. alistair.cockburn.us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44"/>
          <p:cNvSpPr/>
          <p:nvPr/>
        </p:nvSpPr>
        <p:spPr>
          <a:xfrm>
            <a:off x="566928" y="5047488"/>
            <a:ext cx="8010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•  martinfowler.com/architecture — Catálogo de padrões de arquitetura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3565</Words>
  <Application>Microsoft Office PowerPoint</Application>
  <PresentationFormat>Apresentação na tela (16:9)</PresentationFormat>
  <Paragraphs>554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CHRISTIANO PICCININ</cp:lastModifiedBy>
  <cp:revision>1</cp:revision>
  <dcterms:created xsi:type="dcterms:W3CDTF">2026-04-06T20:17:16Z</dcterms:created>
  <dcterms:modified xsi:type="dcterms:W3CDTF">2026-04-13T15:42:35Z</dcterms:modified>
</cp:coreProperties>
</file>